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55FCE78-450B-F7F0-AD77-F74FEBB395AA}">
          <p14:sldIdLst>
            <p14:sldId id="256"/>
            <p14:sldId id="257"/>
          </p14:sldIdLst>
        </p14:section>
        <p14:section name="Problem and discovery" id="{E9A63A54-F499-6700-785F-32858A98F663}">
          <p14:sldIdLst>
            <p14:sldId id="258"/>
            <p14:sldId id="259"/>
            <p14:sldId id="260"/>
            <p14:sldId id="261"/>
          </p14:sldIdLst>
        </p14:section>
        <p14:section name="Opportunity and solution" id="{20AF5178-DE41-5907-62AF-0FB95A8BF144}">
          <p14:sldIdLst>
            <p14:sldId id="262"/>
            <p14:sldId id="263"/>
          </p14:sldIdLst>
        </p14:section>
        <p14:section name="Walkthrough" id="{D89EF6FD-476F-A8E1-F271-B89A384028BF}">
          <p14:sldIdLst>
            <p14:sldId id="264"/>
            <p14:sldId id="265"/>
            <p14:sldId id="266"/>
            <p14:sldId id="267"/>
          </p14:sldIdLst>
        </p14:section>
        <p14:section name="Proof" id="{E330C218-ACEF-24BB-8A90-A91E1E7A885E}">
          <p14:sldIdLst>
            <p14:sldId id="268"/>
          </p14:sldIdLst>
        </p14:section>
        <p14:section name="Metrics and business case" id="{9050D222-A077-5A02-A8A7-C08CF62DC59F}">
          <p14:sldIdLst>
            <p14:sldId id="269"/>
            <p14:sldId id="270"/>
          </p14:sldIdLst>
        </p14:section>
        <p14:section name="Risks and guardrails" id="{8804B8B2-69F1-1BC1-4688-46F17F5ACA96}">
          <p14:sldIdLst>
            <p14:sldId id="271"/>
          </p14:sldIdLst>
        </p14:section>
        <p14:section name="Decision" id="{90A0B616-8DF3-4A51-AB62-D68BD8E97427}">
          <p14:sldIdLst>
            <p14:sldId id="272"/>
            <p14:sldId id="273"/>
          </p14:sldIdLst>
        </p14:section>
        <p14:section name="Background" id="{BC0EF3C1-7BB2-81AB-EDD9-B7C368801C81}">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4" d="100"/>
          <a:sy n="94" d="100"/>
        </p:scale>
        <p:origin x="84" y="3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D3F6E"/>
                </a:solidFill>
                <a:latin typeface="+mn-lt"/>
              </a:defRPr>
            </a:pPr>
            <a:r>
              <a:rPr lang="en-US" sz="1400" b="0" i="0" u="none" strike="noStrike">
                <a:solidFill>
                  <a:srgbClr val="1D3F6E"/>
                </a:solidFill>
                <a:latin typeface="+mn-lt"/>
              </a:rPr>
              <a:t>Monthly cost of contract review (your time at $50/hr + tools)</a:t>
            </a:r>
          </a:p>
        </c:rich>
      </c:tx>
      <c:overlay val="0"/>
    </c:title>
    <c:autoTitleDeleted val="0"/>
    <c:plotArea>
      <c:layout/>
      <c:barChart>
        <c:barDir val="col"/>
        <c:grouping val="clustered"/>
        <c:varyColors val="0"/>
        <c:ser>
          <c:idx val="0"/>
          <c:order val="0"/>
          <c:tx>
            <c:strRef>
              <c:f>Sheet1!$B$1</c:f>
              <c:strCache>
                <c:ptCount val="1"/>
                <c:pt idx="0">
                  <c:v>Today</c:v>
                </c:pt>
              </c:strCache>
            </c:strRef>
          </c:tx>
          <c:spPr>
            <a:solidFill>
              <a:srgbClr val="6B7585"/>
            </a:solidFill>
            <a:effectLst/>
          </c:spPr>
          <c:invertIfNegative val="0"/>
          <c:dLbls>
            <c:numFmt formatCode="\$#,##0" sourceLinked="0"/>
            <c:spPr>
              <a:noFill/>
              <a:ln>
                <a:noFill/>
              </a:ln>
              <a:effectLst/>
            </c:spPr>
            <c:txPr>
              <a:bodyPr/>
              <a:lstStyle/>
              <a:p>
                <a:pPr>
                  <a:defRPr sz="1200" b="0" i="0" u="none" strike="noStrike">
                    <a:solidFill>
                      <a:srgbClr val="1C243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 volume</c:v>
                </c:pt>
                <c:pt idx="1">
                  <c:v>Median</c:v>
                </c:pt>
                <c:pt idx="2">
                  <c:v>High volume</c:v>
                </c:pt>
              </c:strCache>
            </c:strRef>
          </c:cat>
          <c:val>
            <c:numRef>
              <c:f>Sheet1!$B$2:$B$4</c:f>
              <c:numCache>
                <c:formatCode>General</c:formatCode>
                <c:ptCount val="3"/>
                <c:pt idx="0">
                  <c:v>1267</c:v>
                </c:pt>
                <c:pt idx="1">
                  <c:v>1617</c:v>
                </c:pt>
                <c:pt idx="2">
                  <c:v>3433</c:v>
                </c:pt>
              </c:numCache>
            </c:numRef>
          </c:val>
          <c:extLst>
            <c:ext xmlns:c16="http://schemas.microsoft.com/office/drawing/2014/chart" uri="{C3380CC4-5D6E-409C-BE32-E72D297353CC}">
              <c16:uniqueId val="{00000000-390D-42D4-B27D-302F6E0A044E}"/>
            </c:ext>
          </c:extLst>
        </c:ser>
        <c:ser>
          <c:idx val="1"/>
          <c:order val="1"/>
          <c:tx>
            <c:strRef>
              <c:f>Sheet1!$C$1</c:f>
              <c:strCache>
                <c:ptCount val="1"/>
                <c:pt idx="0">
                  <c:v>With ACA</c:v>
                </c:pt>
              </c:strCache>
            </c:strRef>
          </c:tx>
          <c:spPr>
            <a:solidFill>
              <a:srgbClr val="2A64AD"/>
            </a:solidFill>
            <a:effectLst/>
          </c:spPr>
          <c:invertIfNegative val="0"/>
          <c:dLbls>
            <c:numFmt formatCode="\$#,##0" sourceLinked="0"/>
            <c:spPr>
              <a:noFill/>
              <a:ln>
                <a:noFill/>
              </a:ln>
              <a:effectLst/>
            </c:spPr>
            <c:txPr>
              <a:bodyPr/>
              <a:lstStyle/>
              <a:p>
                <a:pPr>
                  <a:defRPr sz="1200" b="0" i="0" u="none" strike="noStrike">
                    <a:solidFill>
                      <a:srgbClr val="1C243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 volume</c:v>
                </c:pt>
                <c:pt idx="1">
                  <c:v>Median</c:v>
                </c:pt>
                <c:pt idx="2">
                  <c:v>High volume</c:v>
                </c:pt>
              </c:strCache>
            </c:strRef>
          </c:cat>
          <c:val>
            <c:numRef>
              <c:f>Sheet1!$C$2:$C$4</c:f>
              <c:numCache>
                <c:formatCode>General</c:formatCode>
                <c:ptCount val="3"/>
                <c:pt idx="0">
                  <c:v>819</c:v>
                </c:pt>
                <c:pt idx="1">
                  <c:v>921</c:v>
                </c:pt>
                <c:pt idx="2">
                  <c:v>1378</c:v>
                </c:pt>
              </c:numCache>
            </c:numRef>
          </c:val>
          <c:extLst>
            <c:ext xmlns:c16="http://schemas.microsoft.com/office/drawing/2014/chart" uri="{C3380CC4-5D6E-409C-BE32-E72D297353CC}">
              <c16:uniqueId val="{00000001-390D-42D4-B27D-302F6E0A044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6B7585"/>
                </a:solidFill>
                <a:latin typeface="+mn-lt"/>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3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58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3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8783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KD, thank you for the time. In the next 12 minutes I want to show you what we found when we looked at how AtliQ reviews contracts, what we built, how we tested it, and the one decision I need from you at the end: a two-week pilot. One promise up front: you still sign every contract. ACA's job is to make sure you know exactly what you are signing.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slide, it is this one. The problem is not that you read slowly. It is that the risks that hurt us sit in contracts we signed a year or three ago. ACA reads the draft against everything AtliQ has already promised and shows you the three things that matter, with the clauses side by side. We tested it hard. The ask is a two-week pilot.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situation in your own words. Nine contracts a month, three to four hours each for client paper, reviews after 10 pm, and deals waiting a week to a month. There is no legal team, so everything waits on you.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stories from our own files. Brightwater cost about 23 thousand dollars and two weeks. ShopSwift lost a quarter while it sat in the queue. Harrington is live today: patient data reached Pune before a BAA. And on Gulf Crown, counsel told us she cannot advise without seeing every restriction we have signed, and we have no such list.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turning point in discovery. Seven of the fifteen drafts break a promise sitting in another signed contract. Only three are safe as written. You cannot see any of the seven conflicts by reading the draft alone. That is why reviewing faster does not fix this.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whys took us from 'deals do not close' to the root cause. The problem is not reading speed. AtliQ has no institutional memory of its contracts. Our tracker even has the restrictive-clauses column blank for Al Noor, CloudSpan, Crestline and Northwind, the four contracts that matter most.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opportunity map, the review step is where the hours and the misses are. We split the work three ways. The AI reads and compares, which is what language models are good at. Fixed rules handle things that must never be fuzzy, like which entity signs. And there is a list of things the AI never does on its own: it never signs, never sends anything to a client, and never decides a restriction has expired.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flow. A contract arrives by upload or forwarded email. Before anything leaves AtliQ, we mask IDs, addresses and bank details, and any patient records pasted into the contract are removed before the AI reads it. Then four AI checks run at once, fixed rules run on top, and a citation check removes any flag whose quote cannot be found word for word. You get the top three risks. Underneath it all is the commitments register, AtliQ's memory of what it has promised.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prototype. Twelve contracts from today's queue, already analyzed, ranked by the most serious risk and then the deadline. Harrington is at the top because of the patient-data issue; Gulf Crown shows the Al Noor conflict in one line.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Gulf Crown, Bhavin's biggest deal of the year, due on the 10th. On the left is the draft clause, on the right the Al Noor clause it breaks. Both are marked 'quote verified'. ACA explains why it matters, notes that the Seaside waiver does not cover it, and suggests: do not sign until Al Noor consents. The decision buttons are yours alone.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register is the memory we never had: each promise with its clause, its region and sector, and its end date. Nothing counts until you confirm it. On privacy: company IDs, addresses, bank details and emails are swapped for placeholders before anything goes to the AI, any patient records pasted into a contract are removed before the AI reads it, and there is a screen that shows exactly what left AtliQ.</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you sign, the contract moves into the Signed Contract History, and its new promises go into the register, so the memory keeps itself up to date. And because entity mismatches delayed payments twice last year, every signed contract has an invoice setup for finance: US clients from AtliQ Inc, everyone else from the Pvt Ltd, with a warning when the contract says otherwise. It is a draft for finance; ACA never issues invoices.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only test the happy path. We wrote 25 contracts designed to fool it: conflicts hidden in annexes, penalties renamed as service credits, liability caps emptied by carve-outs, instructions to the AI hidden in the text. All 40 cases now give the expected result. The first run found two real bugs, one over-flag on de-identified health data and one bank routing number that was not masked. Both are fixed.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judge ACA on one number: your review hours saved per month, at least ten, by getting your time per contract under an hour. The co-metric is that every contract is decided within three days. Underneath: analysis under five minutes, which we already beat; no more than 20 percent of flags marked wrong by you, with useful and dismissed flags both counted as correct and shown on the Pilot metrics tab; and zero signed conflicts, uncapped damages, leaks or AI sign actions.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Each review costs about twenty cents in AI. Running ACA in production is about 54 dollars a month, mostly hosting. Valuing your time at a conservative 50 dollars an hour, we save about 700 dollars a month at today's volume, around 13 times the cost. And that ignores the big one: a single avoided Brightwater pays for 36 years of ACA.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ways this could go wrong and what stops each one. The two that matter most to you: ACA cannot invent a risk, because every quote is checked word for word, and it cannot decide anything, because there is no code that signs or sends. The kill switch is a toggle that only Karandeep can use. Press STOP and no contract goes to ACA; the Top risk column shows ACA Disabled, and the POC checks each contract by hand against all compliance points. Press START to turn ACA back on. Any data leak, AI sign action or edited audit log should trigger STOP straight away.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three things. First, 45 minutes of your time to confirm the register, because only you can say what we promised. Second, a two-week pilot where every contract goes through ACA before you read it, and you mark which flags were useful, dismissed or wrong. Third, two things ACA has already found that should not wait: Harrington needs US counsel before anything is signed, and three hotel deals need Al Noor's consent. After two weeks I come back with the numbers and you decide go or no-go.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 and I can show any contract from today's queue live.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slide, not presented. It lists every abbreviation used in the deck, the video and ACA. In the app, hovering over the first underlined use of an abbreviation on each page shows its full form.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D3F6E"/>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417320"/>
            <a:ext cx="10058400" cy="457200"/>
          </a:xfrm>
          <a:prstGeom prst="rect">
            <a:avLst/>
          </a:prstGeom>
          <a:noFill/>
          <a:ln/>
        </p:spPr>
        <p:txBody>
          <a:bodyPr wrap="square" rtlCol="0"/>
          <a:lstStyle>
            <a:lvl1pPr marL="0" indent="0">
              <a:buNone/>
              <a:defRPr lang="en-US" sz="1600" b="1" dirty="0">
                <a:solidFill>
                  <a:schemeClr val="accent2"/>
                </a:solidFill>
                <a:latin typeface="Calibri" pitchFamily="34" charset="0"/>
                <a:ea typeface="Calibri" pitchFamily="34" charset="-122"/>
                <a:cs typeface="Calibri" pitchFamily="34" charset="-120"/>
              </a:defRPr>
            </a:lvl1pPr>
          </a:lstStyle>
          <a:p>
            <a:pPr marL="0" indent="0">
              <a:buNone/>
            </a:pPr>
            <a:endParaRPr lang="en-US" sz="1600" dirty="0"/>
          </a:p>
        </p:txBody>
      </p:sp>
      <p:sp>
        <p:nvSpPr>
          <p:cNvPr id="3" name="Text 0"/>
          <p:cNvSpPr>
            <a:spLocks noGrp="1"/>
          </p:cNvSpPr>
          <p:nvPr>
            <p:ph type="title" idx="101" hasCustomPrompt="1"/>
          </p:nvPr>
        </p:nvSpPr>
        <p:spPr>
          <a:xfrm>
            <a:off x="731520" y="1920240"/>
            <a:ext cx="10698480" cy="173736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4" name="Text 0"/>
          <p:cNvSpPr>
            <a:spLocks noGrp="1"/>
          </p:cNvSpPr>
          <p:nvPr>
            <p:ph type="body" idx="102" hasCustomPrompt="1"/>
          </p:nvPr>
        </p:nvSpPr>
        <p:spPr>
          <a:xfrm>
            <a:off x="731520" y="3794760"/>
            <a:ext cx="10241280" cy="1463040"/>
          </a:xfrm>
          <a:prstGeom prst="rect">
            <a:avLst/>
          </a:prstGeom>
          <a:noFill/>
          <a:ln/>
        </p:spPr>
        <p:txBody>
          <a:bodyPr wrap="square" rtlCol="0"/>
          <a:lstStyle>
            <a:lvl1pPr marL="0" indent="0">
              <a:buNone/>
              <a:defRPr lang="en-US" sz="2000" dirty="0">
                <a:solidFill>
                  <a:schemeClr val="accent6"/>
                </a:solidFill>
                <a:latin typeface="Calibri" pitchFamily="34" charset="0"/>
                <a:ea typeface="Calibri" pitchFamily="34" charset="-122"/>
                <a:cs typeface="Calibri" pitchFamily="34" charset="-120"/>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329184"/>
          </a:xfrm>
          <a:prstGeom prst="rect">
            <a:avLst/>
          </a:prstGeom>
          <a:noFill/>
          <a:ln/>
        </p:spPr>
        <p:txBody>
          <a:bodyPr wrap="square" rtlCol="0"/>
          <a:lstStyle>
            <a:lvl1pPr marL="0" indent="0">
              <a:buNone/>
              <a:defRPr lang="en-US" sz="1200" b="1" dirty="0">
                <a:solidFill>
                  <a:schemeClr val="accent1"/>
                </a:solidFill>
                <a:latin typeface="Calibri" pitchFamily="34" charset="0"/>
                <a:ea typeface="Calibri" pitchFamily="34" charset="-122"/>
                <a:cs typeface="Calibri" pitchFamily="34" charset="-120"/>
              </a:defRPr>
            </a:lvl1pPr>
          </a:lstStyle>
          <a:p>
            <a:pPr marL="0" indent="0">
              <a:buNone/>
            </a:pPr>
            <a:endParaRPr lang="en-US" sz="1200" dirty="0"/>
          </a:p>
        </p:txBody>
      </p:sp>
      <p:sp>
        <p:nvSpPr>
          <p:cNvPr id="3" name="Text 0"/>
          <p:cNvSpPr>
            <a:spLocks noGrp="1"/>
          </p:cNvSpPr>
          <p:nvPr>
            <p:ph type="title" idx="101" hasCustomPrompt="1"/>
          </p:nvPr>
        </p:nvSpPr>
        <p:spPr>
          <a:xfrm>
            <a:off x="548640" y="603504"/>
            <a:ext cx="11064240" cy="868680"/>
          </a:xfrm>
          <a:prstGeom prst="rect">
            <a:avLst/>
          </a:prstGeom>
          <a:noFill/>
          <a:ln/>
        </p:spPr>
        <p:txBody>
          <a:bodyPr wrap="square" rtlCol="0"/>
          <a:lstStyle>
            <a:lvl1pPr marL="0" indent="0" algn="l">
              <a:buNone/>
              <a:defRPr lang="en-US" sz="30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4" name="Text 0"/>
          <p:cNvSpPr/>
          <p:nvPr/>
        </p:nvSpPr>
        <p:spPr>
          <a:xfrm>
            <a:off x="548640" y="6446520"/>
            <a:ext cx="7315200" cy="274320"/>
          </a:xfrm>
          <a:prstGeom prst="rect">
            <a:avLst/>
          </a:prstGeom>
          <a:noFill/>
          <a:ln/>
        </p:spPr>
        <p:txBody>
          <a:bodyPr wrap="square" lIns="0" tIns="0" rIns="0" bIns="0" rtlCol="0" anchor="ctr"/>
          <a:lstStyle/>
          <a:p>
            <a:pPr marL="0" indent="0">
              <a:buNone/>
            </a:pPr>
            <a:r>
              <a:rPr lang="en-US" sz="900" dirty="0">
                <a:solidFill>
                  <a:schemeClr val="accent5"/>
                </a:solidFill>
                <a:latin typeface="Calibri" pitchFamily="34" charset="0"/>
                <a:ea typeface="Calibri" pitchFamily="34" charset="-122"/>
                <a:cs typeface="Calibri" pitchFamily="34" charset="-120"/>
              </a:rPr>
              <a:t>Auto Contract Analyzer (ACA) · Proposal to Karandeep · AtliQ internal</a:t>
            </a:r>
            <a:endParaRPr lang="en-US" sz="900" dirty="0"/>
          </a:p>
        </p:txBody>
      </p:sp>
      <p:sp>
        <p:nvSpPr>
          <p:cNvPr id="25"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650240" y="447040"/>
            <a:ext cx="10698480" cy="3444240"/>
          </a:xfrm>
          <a:prstGeom prst="rect">
            <a:avLst/>
          </a:prstGeom>
          <a:noFill/>
          <a:ln/>
        </p:spPr>
        <p:txBody>
          <a:bodyPr wrap="square" rtlCol="0" anchor="t"/>
          <a:lstStyle/>
          <a:p>
            <a:r>
              <a:rPr lang="en-US" sz="4400" b="1" dirty="0">
                <a:solidFill>
                  <a:schemeClr val="bg1"/>
                </a:solidFill>
                <a:latin typeface="Cambria" pitchFamily="34" charset="0"/>
                <a:ea typeface="Cambria" pitchFamily="34" charset="-122"/>
                <a:cs typeface="Cambria" pitchFamily="34" charset="-120"/>
              </a:rPr>
              <a:t>Know what you're signing – in Minutes, not Hours</a:t>
            </a:r>
            <a:br>
              <a:rPr lang="en-US" dirty="0"/>
            </a:br>
            <a:r>
              <a:rPr lang="en-US" dirty="0"/>
              <a:t>Loom Link: https://www.loom.com/share/04c06fc1a08043f5967d48c1e8d29fed</a:t>
            </a:r>
            <a:endParaRPr lang="en-US" sz="4400" dirty="0"/>
          </a:p>
        </p:txBody>
      </p:sp>
      <p:sp>
        <p:nvSpPr>
          <p:cNvPr id="4" name="Text 0"/>
          <p:cNvSpPr>
            <a:spLocks noGrp="1"/>
          </p:cNvSpPr>
          <p:nvPr>
            <p:ph type="body" idx="102" hasCustomPrompt="1"/>
          </p:nvPr>
        </p:nvSpPr>
        <p:spPr>
          <a:xfrm>
            <a:off x="731520" y="4231640"/>
            <a:ext cx="10241280" cy="1463040"/>
          </a:xfrm>
          <a:prstGeom prst="rect">
            <a:avLst/>
          </a:prstGeom>
          <a:noFill/>
          <a:ln/>
        </p:spPr>
        <p:txBody>
          <a:bodyPr wrap="square" rtlCol="0" anchor="t"/>
          <a:lstStyle/>
          <a:p>
            <a:pPr marL="0" indent="0">
              <a:buNone/>
            </a:pPr>
            <a:r>
              <a:rPr lang="en-US" sz="2000" dirty="0">
                <a:solidFill>
                  <a:schemeClr val="accent6"/>
                </a:solidFill>
                <a:latin typeface="Calibri" pitchFamily="34" charset="0"/>
                <a:ea typeface="Calibri" pitchFamily="34" charset="-122"/>
                <a:cs typeface="Calibri" pitchFamily="34" charset="-120"/>
              </a:rPr>
              <a:t>A proposal for </a:t>
            </a:r>
            <a:r>
              <a:rPr lang="en-US" sz="2000" dirty="0" err="1">
                <a:solidFill>
                  <a:schemeClr val="accent6"/>
                </a:solidFill>
                <a:latin typeface="Calibri" pitchFamily="34" charset="0"/>
                <a:ea typeface="Calibri" pitchFamily="34" charset="-122"/>
                <a:cs typeface="Calibri" pitchFamily="34" charset="-120"/>
              </a:rPr>
              <a:t>Atliq</a:t>
            </a:r>
            <a:r>
              <a:rPr lang="en-US" sz="2000" dirty="0">
                <a:solidFill>
                  <a:schemeClr val="accent6"/>
                </a:solidFill>
                <a:latin typeface="Calibri" pitchFamily="34" charset="0"/>
                <a:ea typeface="Calibri" pitchFamily="34" charset="-122"/>
                <a:cs typeface="Calibri" pitchFamily="34" charset="-120"/>
              </a:rPr>
              <a:t> Executive Team</a:t>
            </a:r>
            <a:endParaRPr lang="en-US" sz="2000" dirty="0"/>
          </a:p>
          <a:p>
            <a:pPr marL="0" indent="0">
              <a:buNone/>
            </a:pPr>
            <a:r>
              <a:rPr lang="en-US" sz="1600" dirty="0">
                <a:solidFill>
                  <a:schemeClr val="accent6"/>
                </a:solidFill>
                <a:latin typeface="Calibri" pitchFamily="34" charset="0"/>
                <a:ea typeface="Calibri" pitchFamily="34" charset="-122"/>
                <a:cs typeface="Calibri" pitchFamily="34" charset="-120"/>
              </a:rPr>
              <a:t>Vaibhav Soni, AI Product Manager · 12 October 2026</a:t>
            </a:r>
            <a:endParaRPr lang="en-US" sz="2000" dirty="0"/>
          </a:p>
        </p:txBody>
      </p:sp>
      <p:sp>
        <p:nvSpPr>
          <p:cNvPr id="5" name="icon-circle"/>
          <p:cNvSpPr/>
          <p:nvPr/>
        </p:nvSpPr>
        <p:spPr>
          <a:xfrm>
            <a:off x="10378440" y="5074920"/>
            <a:ext cx="1051560" cy="1051560"/>
          </a:xfrm>
          <a:prstGeom prst="ellipse">
            <a:avLst/>
          </a:prstGeom>
          <a:solidFill>
            <a:schemeClr val="accent2"/>
          </a:solidFill>
          <a:ln w="12700">
            <a:solidFill>
              <a:schemeClr val="accent2"/>
            </a:solidFill>
            <a:prstDash val="solid"/>
          </a:ln>
        </p:spPr>
      </p:sp>
      <p:pic>
        <p:nvPicPr>
          <p:cNvPr id="6" name="icon-FaFileSignature" descr="preencoded.png"/>
          <p:cNvPicPr>
            <a:picLocks noChangeAspect="1"/>
          </p:cNvPicPr>
          <p:nvPr/>
        </p:nvPicPr>
        <p:blipFill>
          <a:blip r:embed="rId3"/>
          <a:stretch>
            <a:fillRect/>
          </a:stretch>
        </p:blipFill>
        <p:spPr>
          <a:xfrm>
            <a:off x="10630814" y="5327294"/>
            <a:ext cx="546811" cy="54681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580644"/>
          </a:xfrm>
          <a:prstGeom prst="rect">
            <a:avLst/>
          </a:prstGeom>
          <a:noFill/>
          <a:ln/>
        </p:spPr>
        <p:txBody>
          <a:bodyPr wrap="square" lIns="0" tIns="0" rIns="0" bIns="0" rtlCol="0"/>
          <a:lstStyle/>
          <a:p>
            <a:pPr marL="0" indent="0">
              <a:buNone/>
            </a:pPr>
            <a:r>
              <a:rPr lang="en-US" sz="3000" dirty="0">
                <a:solidFill>
                  <a:schemeClr val="tx2"/>
                </a:solidFill>
                <a:latin typeface="Cambria" pitchFamily="34" charset="0"/>
                <a:ea typeface="Cambria" pitchFamily="34" charset="-122"/>
              </a:rPr>
              <a:t>ACA- Auto Contract Analyzer </a:t>
            </a:r>
          </a:p>
        </p:txBody>
      </p:sp>
      <p:sp>
        <p:nvSpPr>
          <p:cNvPr id="3" name="Text 0"/>
          <p:cNvSpPr>
            <a:spLocks noGrp="1"/>
          </p:cNvSpPr>
          <p:nvPr>
            <p:ph type="title" idx="101" hasCustomPrompt="1"/>
          </p:nvPr>
        </p:nvSpPr>
        <p:spPr>
          <a:xfrm>
            <a:off x="1744090" y="5922482"/>
            <a:ext cx="7829036" cy="338328"/>
          </a:xfrm>
          <a:prstGeom prst="rect">
            <a:avLst/>
          </a:prstGeom>
          <a:noFill/>
          <a:ln/>
        </p:spPr>
        <p:txBody>
          <a:bodyPr wrap="square" lIns="0" tIns="0" rIns="0" bIns="0" rtlCol="0" anchor="t"/>
          <a:lstStyle/>
          <a:p>
            <a:pPr marL="0" indent="0" algn="l">
              <a:buNone/>
            </a:pPr>
            <a:r>
              <a:rPr lang="en-US" sz="2400" b="1" dirty="0">
                <a:solidFill>
                  <a:schemeClr val="tx2"/>
                </a:solidFill>
                <a:latin typeface="Cambria" pitchFamily="34" charset="0"/>
                <a:ea typeface="Cambria" pitchFamily="34" charset="-122"/>
                <a:cs typeface="Cambria" pitchFamily="34" charset="-120"/>
              </a:rPr>
              <a:t>ACA finds the real risks in under a minute – you decide</a:t>
            </a:r>
            <a:endParaRPr lang="en-US" sz="2400" dirty="0"/>
          </a:p>
        </p:txBody>
      </p:sp>
      <p:sp>
        <p:nvSpPr>
          <p:cNvPr id="4" name="icon-circle"/>
          <p:cNvSpPr/>
          <p:nvPr/>
        </p:nvSpPr>
        <p:spPr>
          <a:xfrm>
            <a:off x="509056" y="1193292"/>
            <a:ext cx="685800" cy="685800"/>
          </a:xfrm>
          <a:prstGeom prst="ellipse">
            <a:avLst/>
          </a:prstGeom>
          <a:solidFill>
            <a:schemeClr val="accent3"/>
          </a:solidFill>
          <a:ln w="12700">
            <a:solidFill>
              <a:schemeClr val="accent3"/>
            </a:solidFill>
            <a:prstDash val="solid"/>
          </a:ln>
        </p:spPr>
      </p:sp>
      <p:pic>
        <p:nvPicPr>
          <p:cNvPr id="5" name="icon-FaExclamationTriangle" descr="preencoded.png"/>
          <p:cNvPicPr>
            <a:picLocks noChangeAspect="1"/>
          </p:cNvPicPr>
          <p:nvPr/>
        </p:nvPicPr>
        <p:blipFill>
          <a:blip r:embed="rId3"/>
          <a:stretch>
            <a:fillRect/>
          </a:stretch>
        </p:blipFill>
        <p:spPr>
          <a:xfrm>
            <a:off x="673648" y="1357884"/>
            <a:ext cx="356616" cy="356616"/>
          </a:xfrm>
          <a:prstGeom prst="rect">
            <a:avLst/>
          </a:prstGeom>
        </p:spPr>
      </p:pic>
      <p:sp>
        <p:nvSpPr>
          <p:cNvPr id="6" name="Text 3"/>
          <p:cNvSpPr txBox="1"/>
          <p:nvPr/>
        </p:nvSpPr>
        <p:spPr>
          <a:xfrm>
            <a:off x="1423456" y="1175004"/>
            <a:ext cx="5120640" cy="36576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The problem</a:t>
            </a:r>
            <a:endParaRPr lang="en-US" sz="1800" dirty="0"/>
          </a:p>
        </p:txBody>
      </p:sp>
      <p:sp>
        <p:nvSpPr>
          <p:cNvPr id="7" name="Text 4"/>
          <p:cNvSpPr txBox="1"/>
          <p:nvPr/>
        </p:nvSpPr>
        <p:spPr>
          <a:xfrm>
            <a:off x="1423456" y="1540764"/>
            <a:ext cx="5120640" cy="8686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You review ~9 contracts a month alone, 3–4 hours each, from memory. The costly risks hide in contracts AtliQ already signed.</a:t>
            </a:r>
            <a:endParaRPr lang="en-US" sz="1500" dirty="0"/>
          </a:p>
        </p:txBody>
      </p:sp>
      <p:sp>
        <p:nvSpPr>
          <p:cNvPr id="8" name="icon-circle"/>
          <p:cNvSpPr/>
          <p:nvPr/>
        </p:nvSpPr>
        <p:spPr>
          <a:xfrm>
            <a:off x="509056" y="2564892"/>
            <a:ext cx="685800" cy="685800"/>
          </a:xfrm>
          <a:prstGeom prst="ellipse">
            <a:avLst/>
          </a:prstGeom>
          <a:solidFill>
            <a:schemeClr val="accent1"/>
          </a:solidFill>
          <a:ln w="12700">
            <a:solidFill>
              <a:schemeClr val="accent1"/>
            </a:solidFill>
            <a:prstDash val="solid"/>
          </a:ln>
        </p:spPr>
      </p:sp>
      <p:pic>
        <p:nvPicPr>
          <p:cNvPr id="9" name="icon-FaSearch" descr="preencoded.png"/>
          <p:cNvPicPr>
            <a:picLocks noChangeAspect="1"/>
          </p:cNvPicPr>
          <p:nvPr/>
        </p:nvPicPr>
        <p:blipFill>
          <a:blip r:embed="rId4"/>
          <a:stretch>
            <a:fillRect/>
          </a:stretch>
        </p:blipFill>
        <p:spPr>
          <a:xfrm>
            <a:off x="673648" y="2729484"/>
            <a:ext cx="356616" cy="356616"/>
          </a:xfrm>
          <a:prstGeom prst="rect">
            <a:avLst/>
          </a:prstGeom>
        </p:spPr>
      </p:pic>
      <p:sp>
        <p:nvSpPr>
          <p:cNvPr id="10" name="Text 6"/>
          <p:cNvSpPr txBox="1"/>
          <p:nvPr/>
        </p:nvSpPr>
        <p:spPr>
          <a:xfrm>
            <a:off x="1423456" y="2546604"/>
            <a:ext cx="5120640" cy="36576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The solution</a:t>
            </a:r>
            <a:endParaRPr lang="en-US" sz="1800" dirty="0"/>
          </a:p>
        </p:txBody>
      </p:sp>
      <p:sp>
        <p:nvSpPr>
          <p:cNvPr id="11" name="Text 7"/>
          <p:cNvSpPr txBox="1"/>
          <p:nvPr/>
        </p:nvSpPr>
        <p:spPr>
          <a:xfrm>
            <a:off x="1423456" y="2912364"/>
            <a:ext cx="5120640" cy="8686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ACA checks every clause against your positions, every signed contract and past incidents, then shows the top 3 risks with the exact clauses side by side.</a:t>
            </a:r>
            <a:endParaRPr lang="en-US" sz="1500" dirty="0"/>
          </a:p>
        </p:txBody>
      </p:sp>
      <p:sp>
        <p:nvSpPr>
          <p:cNvPr id="12" name="icon-circle"/>
          <p:cNvSpPr/>
          <p:nvPr/>
        </p:nvSpPr>
        <p:spPr>
          <a:xfrm>
            <a:off x="509056" y="3936492"/>
            <a:ext cx="685800" cy="685800"/>
          </a:xfrm>
          <a:prstGeom prst="ellipse">
            <a:avLst/>
          </a:prstGeom>
          <a:solidFill>
            <a:schemeClr val="accent4"/>
          </a:solidFill>
          <a:ln w="12700">
            <a:solidFill>
              <a:schemeClr val="accent4"/>
            </a:solidFill>
            <a:prstDash val="solid"/>
          </a:ln>
        </p:spPr>
      </p:sp>
      <p:pic>
        <p:nvPicPr>
          <p:cNvPr id="13" name="icon-FaCheckCircle" descr="preencoded.png"/>
          <p:cNvPicPr>
            <a:picLocks noChangeAspect="1"/>
          </p:cNvPicPr>
          <p:nvPr/>
        </p:nvPicPr>
        <p:blipFill>
          <a:blip r:embed="rId5"/>
          <a:stretch>
            <a:fillRect/>
          </a:stretch>
        </p:blipFill>
        <p:spPr>
          <a:xfrm>
            <a:off x="673648" y="4101084"/>
            <a:ext cx="356616" cy="356616"/>
          </a:xfrm>
          <a:prstGeom prst="rect">
            <a:avLst/>
          </a:prstGeom>
        </p:spPr>
      </p:pic>
      <p:sp>
        <p:nvSpPr>
          <p:cNvPr id="14" name="Text 9"/>
          <p:cNvSpPr txBox="1"/>
          <p:nvPr/>
        </p:nvSpPr>
        <p:spPr>
          <a:xfrm>
            <a:off x="1423456" y="3918204"/>
            <a:ext cx="5120640" cy="36576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The proof</a:t>
            </a:r>
            <a:endParaRPr lang="en-US" sz="1800" dirty="0"/>
          </a:p>
        </p:txBody>
      </p:sp>
      <p:sp>
        <p:nvSpPr>
          <p:cNvPr id="15" name="Text 10"/>
          <p:cNvSpPr txBox="1"/>
          <p:nvPr/>
        </p:nvSpPr>
        <p:spPr>
          <a:xfrm>
            <a:off x="1423456" y="4283964"/>
            <a:ext cx="5120640" cy="8686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Tested on 40 contracts, 25 written to break it: 40 / 40 correct, 10 / 10 hidden conflicts caught, 0 data leaks.</a:t>
            </a:r>
            <a:endParaRPr lang="en-US" sz="1500" dirty="0"/>
          </a:p>
        </p:txBody>
      </p:sp>
      <p:sp>
        <p:nvSpPr>
          <p:cNvPr id="16" name="ask-card"/>
          <p:cNvSpPr/>
          <p:nvPr/>
        </p:nvSpPr>
        <p:spPr>
          <a:xfrm>
            <a:off x="7001296" y="1147572"/>
            <a:ext cx="4572000" cy="4343400"/>
          </a:xfrm>
          <a:prstGeom prst="roundRect">
            <a:avLst>
              <a:gd name="adj" fmla="val 1684"/>
            </a:avLst>
          </a:prstGeom>
          <a:solidFill>
            <a:schemeClr val="tx2"/>
          </a:solidFill>
          <a:ln w="12700">
            <a:solidFill>
              <a:schemeClr val="tx2"/>
            </a:solidFill>
            <a:prstDash val="solid"/>
          </a:ln>
        </p:spPr>
      </p:sp>
      <p:sp>
        <p:nvSpPr>
          <p:cNvPr id="17" name="Text 12"/>
          <p:cNvSpPr txBox="1"/>
          <p:nvPr/>
        </p:nvSpPr>
        <p:spPr>
          <a:xfrm>
            <a:off x="7321336" y="1376172"/>
            <a:ext cx="3931920" cy="320040"/>
          </a:xfrm>
          <a:prstGeom prst="rect">
            <a:avLst/>
          </a:prstGeom>
          <a:noFill/>
          <a:ln/>
        </p:spPr>
        <p:txBody>
          <a:bodyPr wrap="square" lIns="0" tIns="0" rIns="0" bIns="0" rtlCol="0" anchor="t"/>
          <a:lstStyle/>
          <a:p>
            <a:pPr marL="0" indent="0">
              <a:buNone/>
            </a:pPr>
            <a:r>
              <a:rPr lang="en-US" sz="1300" b="1" dirty="0">
                <a:solidFill>
                  <a:schemeClr val="accent2"/>
                </a:solidFill>
                <a:latin typeface="Calibri" pitchFamily="34" charset="0"/>
                <a:ea typeface="Calibri" pitchFamily="34" charset="-122"/>
                <a:cs typeface="Calibri" pitchFamily="34" charset="-120"/>
              </a:rPr>
              <a:t>THE ASK</a:t>
            </a:r>
            <a:endParaRPr lang="en-US" sz="1300" dirty="0"/>
          </a:p>
        </p:txBody>
      </p:sp>
      <p:sp>
        <p:nvSpPr>
          <p:cNvPr id="18" name="Text 13"/>
          <p:cNvSpPr txBox="1"/>
          <p:nvPr/>
        </p:nvSpPr>
        <p:spPr>
          <a:xfrm>
            <a:off x="7321336" y="1696212"/>
            <a:ext cx="4023360" cy="548640"/>
          </a:xfrm>
          <a:prstGeom prst="rect">
            <a:avLst/>
          </a:prstGeom>
          <a:noFill/>
          <a:ln/>
        </p:spPr>
        <p:txBody>
          <a:bodyPr wrap="square" lIns="0" tIns="0" rIns="0" bIns="0" rtlCol="0" anchor="t"/>
          <a:lstStyle/>
          <a:p>
            <a:pPr marL="0" indent="0">
              <a:buNone/>
            </a:pPr>
            <a:r>
              <a:rPr lang="en-US" sz="2600" b="1" dirty="0">
                <a:solidFill>
                  <a:schemeClr val="bg1"/>
                </a:solidFill>
                <a:latin typeface="Cambria" pitchFamily="34" charset="0"/>
                <a:ea typeface="Cambria" pitchFamily="34" charset="-122"/>
                <a:cs typeface="Cambria" pitchFamily="34" charset="-120"/>
              </a:rPr>
              <a:t>Approve a two-week pilot</a:t>
            </a:r>
            <a:endParaRPr lang="en-US" sz="2600" dirty="0"/>
          </a:p>
        </p:txBody>
      </p:sp>
      <p:sp>
        <p:nvSpPr>
          <p:cNvPr id="19" name="Text 14"/>
          <p:cNvSpPr txBox="1"/>
          <p:nvPr/>
        </p:nvSpPr>
        <p:spPr>
          <a:xfrm>
            <a:off x="7321336" y="2427732"/>
            <a:ext cx="3977640" cy="20116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Every client and partner contract goes through ACA before you read it.</a:t>
            </a:r>
            <a:endParaRPr lang="en-US" sz="1500" dirty="0"/>
          </a:p>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You confirm the commitments register once (~45 minutes).</a:t>
            </a:r>
            <a:endParaRPr lang="en-US" sz="1500" dirty="0"/>
          </a:p>
          <a:p>
            <a:pPr marL="342900" indent="-342900">
              <a:spcAft>
                <a:spcPts val="800"/>
              </a:spcAft>
              <a:buSzPct val="100000"/>
              <a:buChar char="•"/>
            </a:pPr>
            <a:r>
              <a:rPr lang="en-US" sz="1500" dirty="0">
                <a:solidFill>
                  <a:schemeClr val="bg1"/>
                </a:solidFill>
                <a:latin typeface="Calibri" pitchFamily="34" charset="0"/>
                <a:ea typeface="Calibri" pitchFamily="34" charset="-122"/>
                <a:cs typeface="Calibri" pitchFamily="34" charset="-120"/>
              </a:rPr>
              <a:t>We measure your time per contract and how useful each flag was.</a:t>
            </a:r>
            <a:endParaRPr lang="en-US" sz="1500" dirty="0"/>
          </a:p>
        </p:txBody>
      </p:sp>
      <p:sp>
        <p:nvSpPr>
          <p:cNvPr id="20" name="Text 15"/>
          <p:cNvSpPr txBox="1"/>
          <p:nvPr/>
        </p:nvSpPr>
        <p:spPr>
          <a:xfrm>
            <a:off x="7321336" y="4759452"/>
            <a:ext cx="4023360" cy="365760"/>
          </a:xfrm>
          <a:prstGeom prst="rect">
            <a:avLst/>
          </a:prstGeom>
          <a:noFill/>
          <a:ln/>
        </p:spPr>
        <p:txBody>
          <a:bodyPr wrap="square" lIns="0" tIns="0" rIns="0" bIns="0" rtlCol="0" anchor="t"/>
          <a:lstStyle/>
          <a:p>
            <a:pPr marL="0" indent="0">
              <a:buNone/>
            </a:pPr>
            <a:r>
              <a:rPr lang="en-US" sz="1400" i="1" dirty="0">
                <a:solidFill>
                  <a:schemeClr val="accent6"/>
                </a:solidFill>
                <a:latin typeface="Calibri" pitchFamily="34" charset="0"/>
                <a:ea typeface="Calibri" pitchFamily="34" charset="-122"/>
                <a:cs typeface="Calibri" pitchFamily="34" charset="-120"/>
              </a:rPr>
              <a:t>Running cost: about $0.20 per contract</a:t>
            </a:r>
            <a:endParaRPr lang="en-US" sz="1400" dirty="0"/>
          </a:p>
        </p:txBody>
      </p:sp>
      <p:sp>
        <p:nvSpPr>
          <p:cNvPr id="25"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329184"/>
          </a:xfrm>
          <a:prstGeom prst="rect">
            <a:avLst/>
          </a:prstGeom>
          <a:noFill/>
          <a:ln/>
        </p:spPr>
        <p:txBody>
          <a:bodyPr wrap="square" lIns="0" tIns="0" rIns="0" bIns="0" rtlCol="0"/>
          <a:lstStyle/>
          <a:p>
            <a:pPr marL="0" indent="0">
              <a:buNone/>
            </a:pPr>
            <a:r>
              <a:rPr lang="en-US" sz="1200" b="1" dirty="0">
                <a:solidFill>
                  <a:schemeClr val="accent1"/>
                </a:solidFill>
                <a:latin typeface="Calibri" pitchFamily="34" charset="0"/>
                <a:ea typeface="Calibri" pitchFamily="34" charset="-122"/>
                <a:cs typeface="Calibri" pitchFamily="34" charset="-120"/>
              </a:rPr>
              <a:t>THE PROBLEM</a:t>
            </a:r>
            <a:endParaRPr lang="en-US" sz="1200" dirty="0"/>
          </a:p>
        </p:txBody>
      </p:sp>
      <p:sp>
        <p:nvSpPr>
          <p:cNvPr id="3" name="Text 0"/>
          <p:cNvSpPr>
            <a:spLocks noGrp="1"/>
          </p:cNvSpPr>
          <p:nvPr>
            <p:ph type="title" idx="101" hasCustomPrompt="1"/>
          </p:nvPr>
        </p:nvSpPr>
        <p:spPr>
          <a:xfrm>
            <a:off x="548640" y="603504"/>
            <a:ext cx="11064240" cy="868680"/>
          </a:xfrm>
          <a:prstGeom prst="rect">
            <a:avLst/>
          </a:prstGeom>
          <a:noFill/>
          <a:ln/>
        </p:spPr>
        <p:txBody>
          <a:bodyPr wrap="square" lIns="0" tIns="0" rIns="0" bIns="0" rtlCol="0" anchor="t"/>
          <a:lstStyle/>
          <a:p>
            <a:pPr marL="0" indent="0" algn="l">
              <a:buNone/>
            </a:pPr>
            <a:r>
              <a:rPr lang="en-US" sz="3000" b="1" dirty="0">
                <a:solidFill>
                  <a:schemeClr val="tx2"/>
                </a:solidFill>
                <a:latin typeface="Cambria" pitchFamily="34" charset="0"/>
                <a:ea typeface="Cambria" pitchFamily="34" charset="-122"/>
                <a:cs typeface="Cambria" pitchFamily="34" charset="-120"/>
              </a:rPr>
              <a:t>You review every contract alone, late at night, from memory</a:t>
            </a:r>
            <a:endParaRPr lang="en-US" sz="3000" dirty="0"/>
          </a:p>
        </p:txBody>
      </p:sp>
      <p:sp>
        <p:nvSpPr>
          <p:cNvPr id="4" name="quote-card"/>
          <p:cNvSpPr/>
          <p:nvPr/>
        </p:nvSpPr>
        <p:spPr>
          <a:xfrm>
            <a:off x="548640" y="1737360"/>
            <a:ext cx="5486400" cy="2103120"/>
          </a:xfrm>
          <a:prstGeom prst="roundRect">
            <a:avLst>
              <a:gd name="adj" fmla="val 3478"/>
            </a:avLst>
          </a:prstGeom>
          <a:solidFill>
            <a:schemeClr val="bg2"/>
          </a:solidFill>
          <a:ln w="12700">
            <a:solidFill>
              <a:schemeClr val="bg2"/>
            </a:solidFill>
            <a:prstDash val="solid"/>
          </a:ln>
        </p:spPr>
      </p:sp>
      <p:sp>
        <p:nvSpPr>
          <p:cNvPr id="5" name="Text 3"/>
          <p:cNvSpPr txBox="1"/>
          <p:nvPr/>
        </p:nvSpPr>
        <p:spPr>
          <a:xfrm>
            <a:off x="868680" y="1920240"/>
            <a:ext cx="4937760" cy="1463040"/>
          </a:xfrm>
          <a:prstGeom prst="rect">
            <a:avLst/>
          </a:prstGeom>
          <a:noFill/>
          <a:ln/>
        </p:spPr>
        <p:txBody>
          <a:bodyPr wrap="square" lIns="0" tIns="0" rIns="0" bIns="0" rtlCol="0" anchor="t"/>
          <a:lstStyle/>
          <a:p>
            <a:pPr marL="0" indent="0">
              <a:buNone/>
            </a:pPr>
            <a:r>
              <a:rPr lang="en-US" sz="1700" i="1" dirty="0">
                <a:solidFill>
                  <a:schemeClr val="tx2"/>
                </a:solidFill>
                <a:latin typeface="Cambria" pitchFamily="34" charset="0"/>
                <a:ea typeface="Cambria" pitchFamily="34" charset="-122"/>
                <a:cs typeface="Cambria" pitchFamily="34" charset="-120"/>
              </a:rPr>
              <a:t>“I review every contract myself and I am unable to remember what we have promised other clients. So I either slow the deals down or sign something that hurts AtliQ.”</a:t>
            </a:r>
            <a:endParaRPr lang="en-US" sz="1700" dirty="0"/>
          </a:p>
        </p:txBody>
      </p:sp>
      <p:sp>
        <p:nvSpPr>
          <p:cNvPr id="6" name="Text 4"/>
          <p:cNvSpPr txBox="1"/>
          <p:nvPr/>
        </p:nvSpPr>
        <p:spPr>
          <a:xfrm>
            <a:off x="868680" y="3401568"/>
            <a:ext cx="4937760" cy="274320"/>
          </a:xfrm>
          <a:prstGeom prst="rect">
            <a:avLst/>
          </a:prstGeom>
          <a:noFill/>
          <a:ln/>
        </p:spPr>
        <p:txBody>
          <a:bodyPr wrap="square" lIns="0" tIns="0" rIns="0" bIns="0" rtlCol="0" anchor="t"/>
          <a:lstStyle/>
          <a:p>
            <a:pPr marL="0" indent="0">
              <a:buNone/>
            </a:pPr>
            <a:r>
              <a:rPr lang="en-US" sz="1200" dirty="0">
                <a:solidFill>
                  <a:schemeClr val="accent5"/>
                </a:solidFill>
                <a:latin typeface="Calibri" pitchFamily="34" charset="0"/>
                <a:ea typeface="Calibri" pitchFamily="34" charset="-122"/>
                <a:cs typeface="Calibri" pitchFamily="34" charset="-120"/>
              </a:rPr>
              <a:t>– Your words, from our discovery interview</a:t>
            </a:r>
            <a:endParaRPr lang="en-US" sz="1200" dirty="0"/>
          </a:p>
        </p:txBody>
      </p:sp>
      <p:sp>
        <p:nvSpPr>
          <p:cNvPr id="7" name="Text 5"/>
          <p:cNvSpPr txBox="1"/>
          <p:nvPr/>
        </p:nvSpPr>
        <p:spPr>
          <a:xfrm>
            <a:off x="548640" y="4160520"/>
            <a:ext cx="5486400" cy="10972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Your own note (Sept 2026): “I review everything myself, usually after 10 pm, and the only system is my memory of how the last negotiation went.”</a:t>
            </a:r>
            <a:endParaRPr lang="en-US" sz="1500" dirty="0"/>
          </a:p>
        </p:txBody>
      </p:sp>
      <p:sp>
        <p:nvSpPr>
          <p:cNvPr id="8" name="stat-0"/>
          <p:cNvSpPr/>
          <p:nvPr/>
        </p:nvSpPr>
        <p:spPr>
          <a:xfrm>
            <a:off x="6537960" y="1737360"/>
            <a:ext cx="2377440" cy="2011680"/>
          </a:xfrm>
          <a:prstGeom prst="roundRect">
            <a:avLst>
              <a:gd name="adj" fmla="val 3636"/>
            </a:avLst>
          </a:prstGeom>
          <a:solidFill>
            <a:schemeClr val="accent6"/>
          </a:solidFill>
          <a:ln w="12700">
            <a:solidFill>
              <a:schemeClr val="accent6"/>
            </a:solidFill>
            <a:prstDash val="solid"/>
          </a:ln>
        </p:spPr>
      </p:sp>
      <p:sp>
        <p:nvSpPr>
          <p:cNvPr id="9" name="Text 7"/>
          <p:cNvSpPr txBox="1"/>
          <p:nvPr/>
        </p:nvSpPr>
        <p:spPr>
          <a:xfrm>
            <a:off x="6720840" y="2011680"/>
            <a:ext cx="2057400" cy="82296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~9</a:t>
            </a:r>
            <a:endParaRPr lang="en-US" sz="4000" dirty="0"/>
          </a:p>
        </p:txBody>
      </p:sp>
      <p:sp>
        <p:nvSpPr>
          <p:cNvPr id="10" name="Text 8"/>
          <p:cNvSpPr txBox="1"/>
          <p:nvPr/>
        </p:nvSpPr>
        <p:spPr>
          <a:xfrm>
            <a:off x="6720840" y="2880360"/>
            <a:ext cx="2057400" cy="7315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contracts a month, and growing</a:t>
            </a:r>
            <a:endParaRPr lang="en-US" sz="1400" dirty="0"/>
          </a:p>
        </p:txBody>
      </p:sp>
      <p:sp>
        <p:nvSpPr>
          <p:cNvPr id="11" name="stat-1"/>
          <p:cNvSpPr/>
          <p:nvPr/>
        </p:nvSpPr>
        <p:spPr>
          <a:xfrm>
            <a:off x="9144000" y="1737360"/>
            <a:ext cx="2377440" cy="2011680"/>
          </a:xfrm>
          <a:prstGeom prst="roundRect">
            <a:avLst>
              <a:gd name="adj" fmla="val 3636"/>
            </a:avLst>
          </a:prstGeom>
          <a:solidFill>
            <a:schemeClr val="accent6"/>
          </a:solidFill>
          <a:ln w="12700">
            <a:solidFill>
              <a:schemeClr val="accent6"/>
            </a:solidFill>
            <a:prstDash val="solid"/>
          </a:ln>
        </p:spPr>
      </p:sp>
      <p:sp>
        <p:nvSpPr>
          <p:cNvPr id="12" name="Text 10"/>
          <p:cNvSpPr txBox="1"/>
          <p:nvPr/>
        </p:nvSpPr>
        <p:spPr>
          <a:xfrm>
            <a:off x="9326880" y="2011680"/>
            <a:ext cx="2057400" cy="82296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3–4 hrs</a:t>
            </a:r>
            <a:endParaRPr lang="en-US" sz="4000" dirty="0"/>
          </a:p>
        </p:txBody>
      </p:sp>
      <p:sp>
        <p:nvSpPr>
          <p:cNvPr id="13" name="Text 11"/>
          <p:cNvSpPr txBox="1"/>
          <p:nvPr/>
        </p:nvSpPr>
        <p:spPr>
          <a:xfrm>
            <a:off x="9326880" y="2880360"/>
            <a:ext cx="2057400" cy="7315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per client-paper contract</a:t>
            </a:r>
            <a:endParaRPr lang="en-US" sz="1400" dirty="0"/>
          </a:p>
        </p:txBody>
      </p:sp>
      <p:sp>
        <p:nvSpPr>
          <p:cNvPr id="14" name="stat-2"/>
          <p:cNvSpPr/>
          <p:nvPr/>
        </p:nvSpPr>
        <p:spPr>
          <a:xfrm>
            <a:off x="6537960" y="3977640"/>
            <a:ext cx="2377440" cy="2011680"/>
          </a:xfrm>
          <a:prstGeom prst="roundRect">
            <a:avLst>
              <a:gd name="adj" fmla="val 3636"/>
            </a:avLst>
          </a:prstGeom>
          <a:solidFill>
            <a:schemeClr val="accent6"/>
          </a:solidFill>
          <a:ln w="12700">
            <a:solidFill>
              <a:schemeClr val="accent6"/>
            </a:solidFill>
            <a:prstDash val="solid"/>
          </a:ln>
        </p:spPr>
      </p:sp>
      <p:sp>
        <p:nvSpPr>
          <p:cNvPr id="15" name="Text 13"/>
          <p:cNvSpPr txBox="1"/>
          <p:nvPr/>
        </p:nvSpPr>
        <p:spPr>
          <a:xfrm>
            <a:off x="6720840" y="4251960"/>
            <a:ext cx="2057400" cy="822960"/>
          </a:xfrm>
          <a:prstGeom prst="rect">
            <a:avLst/>
          </a:prstGeom>
          <a:noFill/>
          <a:ln/>
        </p:spPr>
        <p:txBody>
          <a:bodyPr wrap="square" lIns="0" tIns="0" rIns="0" bIns="0" rtlCol="0" anchor="t"/>
          <a:lstStyle/>
          <a:p>
            <a:pPr marL="0" indent="0">
              <a:buNone/>
            </a:pPr>
            <a:r>
              <a:rPr lang="en-US" sz="3000" b="1" dirty="0">
                <a:solidFill>
                  <a:schemeClr val="accent1"/>
                </a:solidFill>
                <a:latin typeface="Cambria" pitchFamily="34" charset="0"/>
                <a:ea typeface="Cambria" pitchFamily="34" charset="-122"/>
                <a:cs typeface="Cambria" pitchFamily="34" charset="-120"/>
              </a:rPr>
              <a:t>1 Week – 1 Month</a:t>
            </a:r>
            <a:endParaRPr lang="en-US" sz="3000" dirty="0"/>
          </a:p>
        </p:txBody>
      </p:sp>
      <p:sp>
        <p:nvSpPr>
          <p:cNvPr id="16" name="Text 14"/>
          <p:cNvSpPr txBox="1"/>
          <p:nvPr/>
        </p:nvSpPr>
        <p:spPr>
          <a:xfrm>
            <a:off x="6720840" y="5120640"/>
            <a:ext cx="2057400" cy="7315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a deal waits in the queue</a:t>
            </a:r>
            <a:endParaRPr lang="en-US" sz="1400" dirty="0"/>
          </a:p>
        </p:txBody>
      </p:sp>
      <p:sp>
        <p:nvSpPr>
          <p:cNvPr id="17" name="stat-3"/>
          <p:cNvSpPr/>
          <p:nvPr/>
        </p:nvSpPr>
        <p:spPr>
          <a:xfrm>
            <a:off x="9144000" y="3977640"/>
            <a:ext cx="2377440" cy="2011680"/>
          </a:xfrm>
          <a:prstGeom prst="roundRect">
            <a:avLst>
              <a:gd name="adj" fmla="val 3636"/>
            </a:avLst>
          </a:prstGeom>
          <a:solidFill>
            <a:schemeClr val="accent6"/>
          </a:solidFill>
          <a:ln w="12700">
            <a:solidFill>
              <a:schemeClr val="accent6"/>
            </a:solidFill>
            <a:prstDash val="solid"/>
          </a:ln>
        </p:spPr>
      </p:sp>
      <p:sp>
        <p:nvSpPr>
          <p:cNvPr id="18" name="Text 16"/>
          <p:cNvSpPr txBox="1"/>
          <p:nvPr/>
        </p:nvSpPr>
        <p:spPr>
          <a:xfrm>
            <a:off x="9326880" y="4251960"/>
            <a:ext cx="2057400" cy="82296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0</a:t>
            </a:r>
            <a:endParaRPr lang="en-US" sz="4000" dirty="0"/>
          </a:p>
        </p:txBody>
      </p:sp>
      <p:sp>
        <p:nvSpPr>
          <p:cNvPr id="19" name="Text 17"/>
          <p:cNvSpPr txBox="1"/>
          <p:nvPr/>
        </p:nvSpPr>
        <p:spPr>
          <a:xfrm>
            <a:off x="9326880" y="5120640"/>
            <a:ext cx="2057400" cy="7315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people besides you who can review</a:t>
            </a:r>
            <a:endParaRPr lang="en-US" sz="1400" dirty="0"/>
          </a:p>
        </p:txBody>
      </p:sp>
      <p:sp>
        <p:nvSpPr>
          <p:cNvPr id="25"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329184"/>
          </a:xfrm>
          <a:prstGeom prst="rect">
            <a:avLst/>
          </a:prstGeom>
          <a:noFill/>
          <a:ln/>
        </p:spPr>
        <p:txBody>
          <a:bodyPr wrap="square" lIns="0" tIns="0" rIns="0" bIns="0" rtlCol="0"/>
          <a:lstStyle/>
          <a:p>
            <a:pPr marL="0" indent="0">
              <a:buNone/>
            </a:pPr>
            <a:r>
              <a:rPr lang="en-US" sz="1200" b="1" dirty="0">
                <a:solidFill>
                  <a:schemeClr val="accent1"/>
                </a:solidFill>
                <a:latin typeface="Calibri" pitchFamily="34" charset="0"/>
                <a:ea typeface="Calibri" pitchFamily="34" charset="-122"/>
                <a:cs typeface="Calibri" pitchFamily="34" charset="-120"/>
              </a:rPr>
              <a:t>WHAT IT HAS ALREADY COST</a:t>
            </a:r>
            <a:endParaRPr lang="en-US" sz="1200" dirty="0"/>
          </a:p>
        </p:txBody>
      </p:sp>
      <p:sp>
        <p:nvSpPr>
          <p:cNvPr id="3" name="Text 0"/>
          <p:cNvSpPr>
            <a:spLocks noGrp="1"/>
          </p:cNvSpPr>
          <p:nvPr>
            <p:ph type="title" idx="101" hasCustomPrompt="1"/>
          </p:nvPr>
        </p:nvSpPr>
        <p:spPr>
          <a:xfrm>
            <a:off x="548640" y="603504"/>
            <a:ext cx="11064240" cy="868680"/>
          </a:xfrm>
          <a:prstGeom prst="rect">
            <a:avLst/>
          </a:prstGeom>
          <a:noFill/>
          <a:ln/>
        </p:spPr>
        <p:txBody>
          <a:bodyPr wrap="square" lIns="0" tIns="0" rIns="0" bIns="0" rtlCol="0" anchor="t"/>
          <a:lstStyle/>
          <a:p>
            <a:pPr marL="0" indent="0" algn="l">
              <a:buNone/>
            </a:pPr>
            <a:r>
              <a:rPr lang="en-US" sz="3000" b="1" dirty="0">
                <a:solidFill>
                  <a:schemeClr val="tx2"/>
                </a:solidFill>
                <a:latin typeface="Cambria" pitchFamily="34" charset="0"/>
                <a:ea typeface="Cambria" pitchFamily="34" charset="-122"/>
                <a:cs typeface="Cambria" pitchFamily="34" charset="-120"/>
              </a:rPr>
              <a:t>The misses are expensive – the next one is in the queue</a:t>
            </a:r>
            <a:endParaRPr lang="en-US" sz="3000" dirty="0"/>
          </a:p>
        </p:txBody>
      </p:sp>
      <p:sp>
        <p:nvSpPr>
          <p:cNvPr id="4" name="cost-0"/>
          <p:cNvSpPr/>
          <p:nvPr/>
        </p:nvSpPr>
        <p:spPr>
          <a:xfrm>
            <a:off x="548640" y="1783080"/>
            <a:ext cx="2606040" cy="4206240"/>
          </a:xfrm>
          <a:prstGeom prst="roundRect">
            <a:avLst>
              <a:gd name="adj" fmla="val 2807"/>
            </a:avLst>
          </a:prstGeom>
          <a:solidFill>
            <a:schemeClr val="bg2"/>
          </a:solidFill>
          <a:ln w="12700">
            <a:solidFill>
              <a:schemeClr val="bg2"/>
            </a:solidFill>
            <a:prstDash val="solid"/>
          </a:ln>
        </p:spPr>
      </p:sp>
      <p:sp>
        <p:nvSpPr>
          <p:cNvPr id="5" name="icon-circle"/>
          <p:cNvSpPr/>
          <p:nvPr/>
        </p:nvSpPr>
        <p:spPr>
          <a:xfrm>
            <a:off x="777240" y="2011680"/>
            <a:ext cx="640080" cy="640080"/>
          </a:xfrm>
          <a:prstGeom prst="ellipse">
            <a:avLst/>
          </a:prstGeom>
          <a:solidFill>
            <a:schemeClr val="accent1"/>
          </a:solidFill>
          <a:ln w="12700">
            <a:solidFill>
              <a:schemeClr val="accent1"/>
            </a:solidFill>
            <a:prstDash val="solid"/>
          </a:ln>
        </p:spPr>
      </p:sp>
      <p:pic>
        <p:nvPicPr>
          <p:cNvPr id="6" name="icon-FaMobileAlt" descr="preencoded.png"/>
          <p:cNvPicPr>
            <a:picLocks noChangeAspect="1"/>
          </p:cNvPicPr>
          <p:nvPr/>
        </p:nvPicPr>
        <p:blipFill>
          <a:blip r:embed="rId3"/>
          <a:stretch>
            <a:fillRect/>
          </a:stretch>
        </p:blipFill>
        <p:spPr>
          <a:xfrm>
            <a:off x="930859" y="2165299"/>
            <a:ext cx="332842" cy="332842"/>
          </a:xfrm>
          <a:prstGeom prst="rect">
            <a:avLst/>
          </a:prstGeom>
        </p:spPr>
      </p:pic>
      <p:sp>
        <p:nvSpPr>
          <p:cNvPr id="7" name="Text 4"/>
          <p:cNvSpPr txBox="1"/>
          <p:nvPr/>
        </p:nvSpPr>
        <p:spPr>
          <a:xfrm>
            <a:off x="777240" y="2788920"/>
            <a:ext cx="2194560" cy="36576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Brightwater</a:t>
            </a:r>
            <a:endParaRPr lang="en-US" sz="1800" dirty="0"/>
          </a:p>
        </p:txBody>
      </p:sp>
      <p:sp>
        <p:nvSpPr>
          <p:cNvPr id="8" name="Text 5"/>
          <p:cNvSpPr txBox="1"/>
          <p:nvPr/>
        </p:nvSpPr>
        <p:spPr>
          <a:xfrm>
            <a:off x="777240" y="3154680"/>
            <a:ext cx="2194560" cy="640080"/>
          </a:xfrm>
          <a:prstGeom prst="rect">
            <a:avLst/>
          </a:prstGeom>
          <a:noFill/>
          <a:ln/>
        </p:spPr>
        <p:txBody>
          <a:bodyPr wrap="square" lIns="0" tIns="0" rIns="0" bIns="0" rtlCol="0" anchor="t"/>
          <a:lstStyle/>
          <a:p>
            <a:pPr marL="0" indent="0">
              <a:buNone/>
            </a:pPr>
            <a:r>
              <a:rPr lang="en-US" sz="2000" b="1" dirty="0">
                <a:solidFill>
                  <a:schemeClr val="accent1"/>
                </a:solidFill>
                <a:latin typeface="Cambria" pitchFamily="34" charset="0"/>
                <a:ea typeface="Cambria" pitchFamily="34" charset="-122"/>
                <a:cs typeface="Cambria" pitchFamily="34" charset="-120"/>
              </a:rPr>
              <a:t>$23.2k + 2 weeks</a:t>
            </a:r>
            <a:endParaRPr lang="en-US" sz="2000" dirty="0"/>
          </a:p>
        </p:txBody>
      </p:sp>
      <p:sp>
        <p:nvSpPr>
          <p:cNvPr id="9" name="Text 6"/>
          <p:cNvSpPr txBox="1"/>
          <p:nvPr/>
        </p:nvSpPr>
        <p:spPr>
          <a:xfrm>
            <a:off x="777240" y="3886200"/>
            <a:ext cx="2194560" cy="2011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Signed from a phone at quarter end. Uncapped delay damages: $9k credit, $14.2k counsel fees, two weeks of senior time.</a:t>
            </a:r>
            <a:endParaRPr lang="en-US" sz="1400" dirty="0"/>
          </a:p>
        </p:txBody>
      </p:sp>
      <p:sp>
        <p:nvSpPr>
          <p:cNvPr id="10" name="cost-1"/>
          <p:cNvSpPr/>
          <p:nvPr/>
        </p:nvSpPr>
        <p:spPr>
          <a:xfrm>
            <a:off x="3364992" y="1783080"/>
            <a:ext cx="2606040" cy="4206240"/>
          </a:xfrm>
          <a:prstGeom prst="roundRect">
            <a:avLst>
              <a:gd name="adj" fmla="val 2807"/>
            </a:avLst>
          </a:prstGeom>
          <a:solidFill>
            <a:schemeClr val="bg2"/>
          </a:solidFill>
          <a:ln w="12700">
            <a:solidFill>
              <a:schemeClr val="bg2"/>
            </a:solidFill>
            <a:prstDash val="solid"/>
          </a:ln>
        </p:spPr>
      </p:sp>
      <p:sp>
        <p:nvSpPr>
          <p:cNvPr id="11" name="icon-circle"/>
          <p:cNvSpPr/>
          <p:nvPr/>
        </p:nvSpPr>
        <p:spPr>
          <a:xfrm>
            <a:off x="3593592" y="2011680"/>
            <a:ext cx="640080" cy="640080"/>
          </a:xfrm>
          <a:prstGeom prst="ellipse">
            <a:avLst/>
          </a:prstGeom>
          <a:solidFill>
            <a:schemeClr val="accent1"/>
          </a:solidFill>
          <a:ln w="12700">
            <a:solidFill>
              <a:schemeClr val="accent1"/>
            </a:solidFill>
            <a:prstDash val="solid"/>
          </a:ln>
        </p:spPr>
      </p:sp>
      <p:pic>
        <p:nvPicPr>
          <p:cNvPr id="12" name="icon-FaHourglassHalf" descr="preencoded.png"/>
          <p:cNvPicPr>
            <a:picLocks noChangeAspect="1"/>
          </p:cNvPicPr>
          <p:nvPr/>
        </p:nvPicPr>
        <p:blipFill>
          <a:blip r:embed="rId4"/>
          <a:stretch>
            <a:fillRect/>
          </a:stretch>
        </p:blipFill>
        <p:spPr>
          <a:xfrm>
            <a:off x="3747211" y="2165299"/>
            <a:ext cx="332842" cy="332842"/>
          </a:xfrm>
          <a:prstGeom prst="rect">
            <a:avLst/>
          </a:prstGeom>
        </p:spPr>
      </p:pic>
      <p:sp>
        <p:nvSpPr>
          <p:cNvPr id="13" name="Text 9"/>
          <p:cNvSpPr txBox="1"/>
          <p:nvPr/>
        </p:nvSpPr>
        <p:spPr>
          <a:xfrm>
            <a:off x="3593592" y="2788920"/>
            <a:ext cx="2194560" cy="36576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ShopSwift</a:t>
            </a:r>
            <a:endParaRPr lang="en-US" sz="1800" dirty="0"/>
          </a:p>
        </p:txBody>
      </p:sp>
      <p:sp>
        <p:nvSpPr>
          <p:cNvPr id="14" name="Text 10"/>
          <p:cNvSpPr txBox="1"/>
          <p:nvPr/>
        </p:nvSpPr>
        <p:spPr>
          <a:xfrm>
            <a:off x="3593592" y="3154680"/>
            <a:ext cx="2194560" cy="640080"/>
          </a:xfrm>
          <a:prstGeom prst="rect">
            <a:avLst/>
          </a:prstGeom>
          <a:noFill/>
          <a:ln/>
        </p:spPr>
        <p:txBody>
          <a:bodyPr wrap="square" lIns="0" tIns="0" rIns="0" bIns="0" rtlCol="0" anchor="t"/>
          <a:lstStyle/>
          <a:p>
            <a:pPr marL="0" indent="0">
              <a:buNone/>
            </a:pPr>
            <a:r>
              <a:rPr lang="en-US" sz="2000" b="1" dirty="0">
                <a:solidFill>
                  <a:schemeClr val="accent1"/>
                </a:solidFill>
                <a:latin typeface="Cambria" pitchFamily="34" charset="0"/>
                <a:ea typeface="Cambria" pitchFamily="34" charset="-122"/>
                <a:cs typeface="Cambria" pitchFamily="34" charset="-120"/>
              </a:rPr>
              <a:t>$55k slipped</a:t>
            </a:r>
            <a:endParaRPr lang="en-US" sz="2000" dirty="0"/>
          </a:p>
        </p:txBody>
      </p:sp>
      <p:sp>
        <p:nvSpPr>
          <p:cNvPr id="15" name="Text 11"/>
          <p:cNvSpPr txBox="1"/>
          <p:nvPr/>
        </p:nvSpPr>
        <p:spPr>
          <a:xfrm>
            <a:off x="3593592" y="3886200"/>
            <a:ext cx="2194560" cy="2011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Sat in the review queue for 9 days. The client's budget moved to the next quarter.</a:t>
            </a:r>
            <a:endParaRPr lang="en-US" sz="1400" dirty="0"/>
          </a:p>
        </p:txBody>
      </p:sp>
      <p:sp>
        <p:nvSpPr>
          <p:cNvPr id="16" name="cost-2"/>
          <p:cNvSpPr/>
          <p:nvPr/>
        </p:nvSpPr>
        <p:spPr>
          <a:xfrm>
            <a:off x="6181344" y="1783080"/>
            <a:ext cx="2606040" cy="4206240"/>
          </a:xfrm>
          <a:prstGeom prst="roundRect">
            <a:avLst>
              <a:gd name="adj" fmla="val 2807"/>
            </a:avLst>
          </a:prstGeom>
          <a:solidFill>
            <a:schemeClr val="bg2"/>
          </a:solidFill>
          <a:ln w="12700">
            <a:solidFill>
              <a:schemeClr val="bg2"/>
            </a:solidFill>
            <a:prstDash val="solid"/>
          </a:ln>
        </p:spPr>
      </p:sp>
      <p:sp>
        <p:nvSpPr>
          <p:cNvPr id="17" name="icon-circle"/>
          <p:cNvSpPr/>
          <p:nvPr/>
        </p:nvSpPr>
        <p:spPr>
          <a:xfrm>
            <a:off x="6409944" y="2011680"/>
            <a:ext cx="640080" cy="640080"/>
          </a:xfrm>
          <a:prstGeom prst="ellipse">
            <a:avLst/>
          </a:prstGeom>
          <a:solidFill>
            <a:schemeClr val="accent3"/>
          </a:solidFill>
          <a:ln w="12700">
            <a:solidFill>
              <a:schemeClr val="accent3"/>
            </a:solidFill>
            <a:prstDash val="solid"/>
          </a:ln>
        </p:spPr>
      </p:sp>
      <p:pic>
        <p:nvPicPr>
          <p:cNvPr id="18" name="icon-FaHospital" descr="preencoded.png"/>
          <p:cNvPicPr>
            <a:picLocks noChangeAspect="1"/>
          </p:cNvPicPr>
          <p:nvPr/>
        </p:nvPicPr>
        <p:blipFill>
          <a:blip r:embed="rId5"/>
          <a:stretch>
            <a:fillRect/>
          </a:stretch>
        </p:blipFill>
        <p:spPr>
          <a:xfrm>
            <a:off x="6563563" y="2165299"/>
            <a:ext cx="332842" cy="332842"/>
          </a:xfrm>
          <a:prstGeom prst="rect">
            <a:avLst/>
          </a:prstGeom>
        </p:spPr>
      </p:pic>
      <p:sp>
        <p:nvSpPr>
          <p:cNvPr id="19" name="Text 14"/>
          <p:cNvSpPr txBox="1"/>
          <p:nvPr/>
        </p:nvSpPr>
        <p:spPr>
          <a:xfrm>
            <a:off x="6409944" y="2788920"/>
            <a:ext cx="2194560" cy="36576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Harrington</a:t>
            </a:r>
            <a:endParaRPr lang="en-US" sz="1800" dirty="0"/>
          </a:p>
        </p:txBody>
      </p:sp>
      <p:sp>
        <p:nvSpPr>
          <p:cNvPr id="20" name="Text 15"/>
          <p:cNvSpPr txBox="1"/>
          <p:nvPr/>
        </p:nvSpPr>
        <p:spPr>
          <a:xfrm>
            <a:off x="6409944" y="3154680"/>
            <a:ext cx="2194560" cy="640080"/>
          </a:xfrm>
          <a:prstGeom prst="rect">
            <a:avLst/>
          </a:prstGeom>
          <a:noFill/>
          <a:ln/>
        </p:spPr>
        <p:txBody>
          <a:bodyPr wrap="square" lIns="0" tIns="0" rIns="0" bIns="0" rtlCol="0" anchor="t"/>
          <a:lstStyle/>
          <a:p>
            <a:pPr marL="0" indent="0">
              <a:buNone/>
            </a:pPr>
            <a:r>
              <a:rPr lang="en-US" sz="2000" b="1" dirty="0">
                <a:solidFill>
                  <a:schemeClr val="accent3"/>
                </a:solidFill>
                <a:latin typeface="Cambria" pitchFamily="34" charset="0"/>
                <a:ea typeface="Cambria" pitchFamily="34" charset="-122"/>
                <a:cs typeface="Cambria" pitchFamily="34" charset="-120"/>
              </a:rPr>
              <a:t>Live HIPAA exposure</a:t>
            </a:r>
            <a:endParaRPr lang="en-US" sz="2000" dirty="0"/>
          </a:p>
        </p:txBody>
      </p:sp>
      <p:sp>
        <p:nvSpPr>
          <p:cNvPr id="21" name="Text 16"/>
          <p:cNvSpPr txBox="1"/>
          <p:nvPr/>
        </p:nvSpPr>
        <p:spPr>
          <a:xfrm>
            <a:off x="6409944" y="3886200"/>
            <a:ext cx="2194560" cy="2011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Patient data was forwarded to Pune before any BAA was signed. Nobody has raised it yet.</a:t>
            </a:r>
            <a:endParaRPr lang="en-US" sz="1400" dirty="0"/>
          </a:p>
        </p:txBody>
      </p:sp>
      <p:sp>
        <p:nvSpPr>
          <p:cNvPr id="22" name="cost-3"/>
          <p:cNvSpPr/>
          <p:nvPr/>
        </p:nvSpPr>
        <p:spPr>
          <a:xfrm>
            <a:off x="8997696" y="1783080"/>
            <a:ext cx="2606040" cy="4206240"/>
          </a:xfrm>
          <a:prstGeom prst="roundRect">
            <a:avLst>
              <a:gd name="adj" fmla="val 2807"/>
            </a:avLst>
          </a:prstGeom>
          <a:solidFill>
            <a:schemeClr val="bg2"/>
          </a:solidFill>
          <a:ln w="12700">
            <a:solidFill>
              <a:schemeClr val="bg2"/>
            </a:solidFill>
            <a:prstDash val="solid"/>
          </a:ln>
        </p:spPr>
      </p:sp>
      <p:sp>
        <p:nvSpPr>
          <p:cNvPr id="23" name="icon-circle"/>
          <p:cNvSpPr/>
          <p:nvPr/>
        </p:nvSpPr>
        <p:spPr>
          <a:xfrm>
            <a:off x="9226296" y="2011680"/>
            <a:ext cx="640080" cy="640080"/>
          </a:xfrm>
          <a:prstGeom prst="ellipse">
            <a:avLst/>
          </a:prstGeom>
          <a:solidFill>
            <a:schemeClr val="accent1"/>
          </a:solidFill>
          <a:ln w="12700">
            <a:solidFill>
              <a:schemeClr val="accent1"/>
            </a:solidFill>
            <a:prstDash val="solid"/>
          </a:ln>
        </p:spPr>
      </p:sp>
      <p:pic>
        <p:nvPicPr>
          <p:cNvPr id="24" name="icon-FaBalanceScale" descr="preencoded.png"/>
          <p:cNvPicPr>
            <a:picLocks noChangeAspect="1"/>
          </p:cNvPicPr>
          <p:nvPr/>
        </p:nvPicPr>
        <p:blipFill>
          <a:blip r:embed="rId6"/>
          <a:stretch>
            <a:fillRect/>
          </a:stretch>
        </p:blipFill>
        <p:spPr>
          <a:xfrm>
            <a:off x="9379915" y="2165299"/>
            <a:ext cx="332842" cy="332842"/>
          </a:xfrm>
          <a:prstGeom prst="rect">
            <a:avLst/>
          </a:prstGeom>
        </p:spPr>
      </p:pic>
      <p:sp>
        <p:nvSpPr>
          <p:cNvPr id="25" name="Text 19"/>
          <p:cNvSpPr txBox="1"/>
          <p:nvPr/>
        </p:nvSpPr>
        <p:spPr>
          <a:xfrm>
            <a:off x="9226296" y="2788920"/>
            <a:ext cx="2194560" cy="36576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Gulf Crown</a:t>
            </a:r>
            <a:endParaRPr lang="en-US" sz="1800" dirty="0"/>
          </a:p>
        </p:txBody>
      </p:sp>
      <p:sp>
        <p:nvSpPr>
          <p:cNvPr id="26" name="Text 20"/>
          <p:cNvSpPr txBox="1"/>
          <p:nvPr/>
        </p:nvSpPr>
        <p:spPr>
          <a:xfrm>
            <a:off x="9226296" y="3154680"/>
            <a:ext cx="2194560" cy="640080"/>
          </a:xfrm>
          <a:prstGeom prst="rect">
            <a:avLst/>
          </a:prstGeom>
          <a:noFill/>
          <a:ln/>
        </p:spPr>
        <p:txBody>
          <a:bodyPr wrap="square" lIns="0" tIns="0" rIns="0" bIns="0" rtlCol="0" anchor="t"/>
          <a:lstStyle/>
          <a:p>
            <a:pPr marL="0" indent="0">
              <a:buNone/>
            </a:pPr>
            <a:r>
              <a:rPr lang="en-US" sz="2000" b="1" dirty="0">
                <a:solidFill>
                  <a:schemeClr val="accent1"/>
                </a:solidFill>
                <a:latin typeface="Cambria" pitchFamily="34" charset="0"/>
                <a:ea typeface="Cambria" pitchFamily="34" charset="-122"/>
                <a:cs typeface="Cambria" pitchFamily="34" charset="-120"/>
              </a:rPr>
              <a:t>₹1.2L counsel, still blocked</a:t>
            </a:r>
            <a:endParaRPr lang="en-US" sz="2000" dirty="0"/>
          </a:p>
        </p:txBody>
      </p:sp>
      <p:sp>
        <p:nvSpPr>
          <p:cNvPr id="27" name="Text 21"/>
          <p:cNvSpPr txBox="1"/>
          <p:nvPr/>
        </p:nvSpPr>
        <p:spPr>
          <a:xfrm>
            <a:off x="9226296" y="3886200"/>
            <a:ext cx="2194560" cy="20116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Counsel cannot advise on one contract in isolation. Needs every signed restriction, and there is no list.</a:t>
            </a:r>
            <a:endParaRPr lang="en-US" sz="1400" dirty="0"/>
          </a:p>
        </p:txBody>
      </p:sp>
      <p:sp>
        <p:nvSpPr>
          <p:cNvPr id="28"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329184"/>
          </a:xfrm>
          <a:prstGeom prst="rect">
            <a:avLst/>
          </a:prstGeom>
          <a:noFill/>
          <a:ln/>
        </p:spPr>
        <p:txBody>
          <a:bodyPr wrap="square" lIns="0" tIns="0" rIns="0" bIns="0" rtlCol="0"/>
          <a:lstStyle/>
          <a:p>
            <a:pPr marL="0" indent="0">
              <a:buNone/>
            </a:pPr>
            <a:r>
              <a:rPr lang="en-US" sz="1200" b="1" dirty="0">
                <a:solidFill>
                  <a:schemeClr val="accent1"/>
                </a:solidFill>
                <a:latin typeface="Calibri" pitchFamily="34" charset="0"/>
                <a:ea typeface="Calibri" pitchFamily="34" charset="-122"/>
                <a:cs typeface="Calibri" pitchFamily="34" charset="-120"/>
              </a:rPr>
              <a:t>DISCOVERY INSIGHT</a:t>
            </a:r>
            <a:endParaRPr lang="en-US" sz="1200" dirty="0"/>
          </a:p>
        </p:txBody>
      </p:sp>
      <p:sp>
        <p:nvSpPr>
          <p:cNvPr id="3" name="Text 0"/>
          <p:cNvSpPr>
            <a:spLocks noGrp="1"/>
          </p:cNvSpPr>
          <p:nvPr>
            <p:ph type="title" idx="101" hasCustomPrompt="1"/>
          </p:nvPr>
        </p:nvSpPr>
        <p:spPr>
          <a:xfrm>
            <a:off x="548640" y="603504"/>
            <a:ext cx="11064240" cy="868680"/>
          </a:xfrm>
          <a:prstGeom prst="rect">
            <a:avLst/>
          </a:prstGeom>
          <a:noFill/>
          <a:ln/>
        </p:spPr>
        <p:txBody>
          <a:bodyPr wrap="square" lIns="0" tIns="0" rIns="0" bIns="0" rtlCol="0" anchor="t"/>
          <a:lstStyle/>
          <a:p>
            <a:pPr marL="0" indent="0" algn="l">
              <a:buNone/>
            </a:pPr>
            <a:r>
              <a:rPr lang="en-US" sz="3000" b="1" dirty="0">
                <a:solidFill>
                  <a:schemeClr val="tx2"/>
                </a:solidFill>
                <a:latin typeface="Cambria" pitchFamily="34" charset="0"/>
                <a:ea typeface="Cambria" pitchFamily="34" charset="-122"/>
                <a:cs typeface="Cambria" pitchFamily="34" charset="-120"/>
              </a:rPr>
              <a:t>Most of the real risk is not in the contract on your desk</a:t>
            </a:r>
            <a:endParaRPr lang="en-US" sz="3000" dirty="0"/>
          </a:p>
        </p:txBody>
      </p:sp>
      <p:sp>
        <p:nvSpPr>
          <p:cNvPr id="4" name="Text 2"/>
          <p:cNvSpPr txBox="1"/>
          <p:nvPr/>
        </p:nvSpPr>
        <p:spPr>
          <a:xfrm>
            <a:off x="548640" y="1691640"/>
            <a:ext cx="5669280" cy="45720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We read all 15 drafts in today's queue against all 17 signed contracts.</a:t>
            </a:r>
            <a:endParaRPr lang="en-US" sz="1600" dirty="0"/>
          </a:p>
        </p:txBody>
      </p:sp>
      <p:sp>
        <p:nvSpPr>
          <p:cNvPr id="5" name="tile-0"/>
          <p:cNvSpPr/>
          <p:nvPr/>
        </p:nvSpPr>
        <p:spPr>
          <a:xfrm>
            <a:off x="548640" y="2286000"/>
            <a:ext cx="914400" cy="777240"/>
          </a:xfrm>
          <a:prstGeom prst="roundRect">
            <a:avLst>
              <a:gd name="adj" fmla="val 9412"/>
            </a:avLst>
          </a:prstGeom>
          <a:solidFill>
            <a:schemeClr val="accent3"/>
          </a:solidFill>
          <a:ln w="12700">
            <a:solidFill>
              <a:schemeClr val="accent3"/>
            </a:solidFill>
            <a:prstDash val="solid"/>
          </a:ln>
        </p:spPr>
      </p:sp>
      <p:sp>
        <p:nvSpPr>
          <p:cNvPr id="6" name="tile-1"/>
          <p:cNvSpPr/>
          <p:nvPr/>
        </p:nvSpPr>
        <p:spPr>
          <a:xfrm>
            <a:off x="1645920" y="2286000"/>
            <a:ext cx="914400" cy="777240"/>
          </a:xfrm>
          <a:prstGeom prst="roundRect">
            <a:avLst>
              <a:gd name="adj" fmla="val 9412"/>
            </a:avLst>
          </a:prstGeom>
          <a:solidFill>
            <a:schemeClr val="accent3"/>
          </a:solidFill>
          <a:ln w="12700">
            <a:solidFill>
              <a:schemeClr val="accent3"/>
            </a:solidFill>
            <a:prstDash val="solid"/>
          </a:ln>
        </p:spPr>
      </p:sp>
      <p:sp>
        <p:nvSpPr>
          <p:cNvPr id="7" name="tile-2"/>
          <p:cNvSpPr/>
          <p:nvPr/>
        </p:nvSpPr>
        <p:spPr>
          <a:xfrm>
            <a:off x="2743200" y="2286000"/>
            <a:ext cx="914400" cy="777240"/>
          </a:xfrm>
          <a:prstGeom prst="roundRect">
            <a:avLst>
              <a:gd name="adj" fmla="val 9412"/>
            </a:avLst>
          </a:prstGeom>
          <a:solidFill>
            <a:schemeClr val="accent3"/>
          </a:solidFill>
          <a:ln w="12700">
            <a:solidFill>
              <a:schemeClr val="accent3"/>
            </a:solidFill>
            <a:prstDash val="solid"/>
          </a:ln>
        </p:spPr>
      </p:sp>
      <p:sp>
        <p:nvSpPr>
          <p:cNvPr id="8" name="tile-3"/>
          <p:cNvSpPr/>
          <p:nvPr/>
        </p:nvSpPr>
        <p:spPr>
          <a:xfrm>
            <a:off x="3840480" y="2286000"/>
            <a:ext cx="914400" cy="777240"/>
          </a:xfrm>
          <a:prstGeom prst="roundRect">
            <a:avLst>
              <a:gd name="adj" fmla="val 9412"/>
            </a:avLst>
          </a:prstGeom>
          <a:solidFill>
            <a:schemeClr val="accent3"/>
          </a:solidFill>
          <a:ln w="12700">
            <a:solidFill>
              <a:schemeClr val="accent3"/>
            </a:solidFill>
            <a:prstDash val="solid"/>
          </a:ln>
        </p:spPr>
      </p:sp>
      <p:sp>
        <p:nvSpPr>
          <p:cNvPr id="9" name="tile-4"/>
          <p:cNvSpPr/>
          <p:nvPr/>
        </p:nvSpPr>
        <p:spPr>
          <a:xfrm>
            <a:off x="4937760" y="2286000"/>
            <a:ext cx="914400" cy="777240"/>
          </a:xfrm>
          <a:prstGeom prst="roundRect">
            <a:avLst>
              <a:gd name="adj" fmla="val 9412"/>
            </a:avLst>
          </a:prstGeom>
          <a:solidFill>
            <a:schemeClr val="accent3"/>
          </a:solidFill>
          <a:ln w="12700">
            <a:solidFill>
              <a:schemeClr val="accent3"/>
            </a:solidFill>
            <a:prstDash val="solid"/>
          </a:ln>
        </p:spPr>
      </p:sp>
      <p:sp>
        <p:nvSpPr>
          <p:cNvPr id="10" name="tile-5"/>
          <p:cNvSpPr/>
          <p:nvPr/>
        </p:nvSpPr>
        <p:spPr>
          <a:xfrm>
            <a:off x="548640" y="3246120"/>
            <a:ext cx="914400" cy="777240"/>
          </a:xfrm>
          <a:prstGeom prst="roundRect">
            <a:avLst>
              <a:gd name="adj" fmla="val 9412"/>
            </a:avLst>
          </a:prstGeom>
          <a:solidFill>
            <a:schemeClr val="accent3"/>
          </a:solidFill>
          <a:ln w="12700">
            <a:solidFill>
              <a:schemeClr val="accent3"/>
            </a:solidFill>
            <a:prstDash val="solid"/>
          </a:ln>
        </p:spPr>
      </p:sp>
      <p:sp>
        <p:nvSpPr>
          <p:cNvPr id="11" name="tile-6"/>
          <p:cNvSpPr/>
          <p:nvPr/>
        </p:nvSpPr>
        <p:spPr>
          <a:xfrm>
            <a:off x="1645920" y="3246120"/>
            <a:ext cx="914400" cy="777240"/>
          </a:xfrm>
          <a:prstGeom prst="roundRect">
            <a:avLst>
              <a:gd name="adj" fmla="val 9412"/>
            </a:avLst>
          </a:prstGeom>
          <a:solidFill>
            <a:schemeClr val="accent3"/>
          </a:solidFill>
          <a:ln w="12700">
            <a:solidFill>
              <a:schemeClr val="accent3"/>
            </a:solidFill>
            <a:prstDash val="solid"/>
          </a:ln>
        </p:spPr>
      </p:sp>
      <p:sp>
        <p:nvSpPr>
          <p:cNvPr id="12" name="tile-7"/>
          <p:cNvSpPr/>
          <p:nvPr/>
        </p:nvSpPr>
        <p:spPr>
          <a:xfrm>
            <a:off x="2743200" y="3246120"/>
            <a:ext cx="914400" cy="777240"/>
          </a:xfrm>
          <a:prstGeom prst="roundRect">
            <a:avLst>
              <a:gd name="adj" fmla="val 9412"/>
            </a:avLst>
          </a:prstGeom>
          <a:solidFill>
            <a:schemeClr val="accent2"/>
          </a:solidFill>
          <a:ln w="12700">
            <a:solidFill>
              <a:schemeClr val="accent2"/>
            </a:solidFill>
            <a:prstDash val="solid"/>
          </a:ln>
        </p:spPr>
      </p:sp>
      <p:sp>
        <p:nvSpPr>
          <p:cNvPr id="13" name="tile-8"/>
          <p:cNvSpPr/>
          <p:nvPr/>
        </p:nvSpPr>
        <p:spPr>
          <a:xfrm>
            <a:off x="3840480" y="3246120"/>
            <a:ext cx="914400" cy="777240"/>
          </a:xfrm>
          <a:prstGeom prst="roundRect">
            <a:avLst>
              <a:gd name="adj" fmla="val 9412"/>
            </a:avLst>
          </a:prstGeom>
          <a:solidFill>
            <a:schemeClr val="accent2"/>
          </a:solidFill>
          <a:ln w="12700">
            <a:solidFill>
              <a:schemeClr val="accent2"/>
            </a:solidFill>
            <a:prstDash val="solid"/>
          </a:ln>
        </p:spPr>
      </p:sp>
      <p:sp>
        <p:nvSpPr>
          <p:cNvPr id="14" name="tile-9"/>
          <p:cNvSpPr/>
          <p:nvPr/>
        </p:nvSpPr>
        <p:spPr>
          <a:xfrm>
            <a:off x="4937760" y="3246120"/>
            <a:ext cx="914400" cy="777240"/>
          </a:xfrm>
          <a:prstGeom prst="roundRect">
            <a:avLst>
              <a:gd name="adj" fmla="val 9412"/>
            </a:avLst>
          </a:prstGeom>
          <a:solidFill>
            <a:schemeClr val="accent2"/>
          </a:solidFill>
          <a:ln w="12700">
            <a:solidFill>
              <a:schemeClr val="accent2"/>
            </a:solidFill>
            <a:prstDash val="solid"/>
          </a:ln>
        </p:spPr>
      </p:sp>
      <p:sp>
        <p:nvSpPr>
          <p:cNvPr id="15" name="tile-10"/>
          <p:cNvSpPr/>
          <p:nvPr/>
        </p:nvSpPr>
        <p:spPr>
          <a:xfrm>
            <a:off x="548640" y="4206240"/>
            <a:ext cx="914400" cy="777240"/>
          </a:xfrm>
          <a:prstGeom prst="roundRect">
            <a:avLst>
              <a:gd name="adj" fmla="val 9412"/>
            </a:avLst>
          </a:prstGeom>
          <a:solidFill>
            <a:schemeClr val="accent2"/>
          </a:solidFill>
          <a:ln w="12700">
            <a:solidFill>
              <a:schemeClr val="accent2"/>
            </a:solidFill>
            <a:prstDash val="solid"/>
          </a:ln>
        </p:spPr>
      </p:sp>
      <p:sp>
        <p:nvSpPr>
          <p:cNvPr id="16" name="tile-11"/>
          <p:cNvSpPr/>
          <p:nvPr/>
        </p:nvSpPr>
        <p:spPr>
          <a:xfrm>
            <a:off x="1645920" y="4206240"/>
            <a:ext cx="914400" cy="777240"/>
          </a:xfrm>
          <a:prstGeom prst="roundRect">
            <a:avLst>
              <a:gd name="adj" fmla="val 9412"/>
            </a:avLst>
          </a:prstGeom>
          <a:solidFill>
            <a:schemeClr val="accent2"/>
          </a:solidFill>
          <a:ln w="12700">
            <a:solidFill>
              <a:schemeClr val="accent2"/>
            </a:solidFill>
            <a:prstDash val="solid"/>
          </a:ln>
        </p:spPr>
      </p:sp>
      <p:sp>
        <p:nvSpPr>
          <p:cNvPr id="17" name="tile-12"/>
          <p:cNvSpPr/>
          <p:nvPr/>
        </p:nvSpPr>
        <p:spPr>
          <a:xfrm>
            <a:off x="2743200" y="4206240"/>
            <a:ext cx="914400" cy="777240"/>
          </a:xfrm>
          <a:prstGeom prst="roundRect">
            <a:avLst>
              <a:gd name="adj" fmla="val 9412"/>
            </a:avLst>
          </a:prstGeom>
          <a:solidFill>
            <a:schemeClr val="accent4"/>
          </a:solidFill>
          <a:ln w="12700">
            <a:solidFill>
              <a:schemeClr val="accent4"/>
            </a:solidFill>
            <a:prstDash val="solid"/>
          </a:ln>
        </p:spPr>
      </p:sp>
      <p:sp>
        <p:nvSpPr>
          <p:cNvPr id="18" name="tile-13"/>
          <p:cNvSpPr/>
          <p:nvPr/>
        </p:nvSpPr>
        <p:spPr>
          <a:xfrm>
            <a:off x="3840480" y="4206240"/>
            <a:ext cx="914400" cy="777240"/>
          </a:xfrm>
          <a:prstGeom prst="roundRect">
            <a:avLst>
              <a:gd name="adj" fmla="val 9412"/>
            </a:avLst>
          </a:prstGeom>
          <a:solidFill>
            <a:schemeClr val="accent4"/>
          </a:solidFill>
          <a:ln w="12700">
            <a:solidFill>
              <a:schemeClr val="accent4"/>
            </a:solidFill>
            <a:prstDash val="solid"/>
          </a:ln>
        </p:spPr>
      </p:sp>
      <p:sp>
        <p:nvSpPr>
          <p:cNvPr id="19" name="tile-14"/>
          <p:cNvSpPr/>
          <p:nvPr/>
        </p:nvSpPr>
        <p:spPr>
          <a:xfrm>
            <a:off x="4937760" y="4206240"/>
            <a:ext cx="914400" cy="777240"/>
          </a:xfrm>
          <a:prstGeom prst="roundRect">
            <a:avLst>
              <a:gd name="adj" fmla="val 9412"/>
            </a:avLst>
          </a:prstGeom>
          <a:solidFill>
            <a:schemeClr val="accent4"/>
          </a:solidFill>
          <a:ln w="12700">
            <a:solidFill>
              <a:schemeClr val="accent4"/>
            </a:solidFill>
            <a:prstDash val="solid"/>
          </a:ln>
        </p:spPr>
      </p:sp>
      <p:sp>
        <p:nvSpPr>
          <p:cNvPr id="20" name="legend-dot-0"/>
          <p:cNvSpPr/>
          <p:nvPr/>
        </p:nvSpPr>
        <p:spPr>
          <a:xfrm>
            <a:off x="548640" y="5349240"/>
            <a:ext cx="201168" cy="201168"/>
          </a:xfrm>
          <a:prstGeom prst="ellipse">
            <a:avLst/>
          </a:prstGeom>
          <a:solidFill>
            <a:schemeClr val="accent3"/>
          </a:solidFill>
          <a:ln w="12700">
            <a:solidFill>
              <a:schemeClr val="accent3"/>
            </a:solidFill>
            <a:prstDash val="solid"/>
          </a:ln>
        </p:spPr>
      </p:sp>
      <p:sp>
        <p:nvSpPr>
          <p:cNvPr id="21" name="Text 19"/>
          <p:cNvSpPr txBox="1"/>
          <p:nvPr/>
        </p:nvSpPr>
        <p:spPr>
          <a:xfrm>
            <a:off x="822960" y="5285232"/>
            <a:ext cx="1645920" cy="6858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7 break a promise in another contract</a:t>
            </a:r>
            <a:endParaRPr lang="en-US" sz="1300" dirty="0"/>
          </a:p>
        </p:txBody>
      </p:sp>
      <p:sp>
        <p:nvSpPr>
          <p:cNvPr id="22" name="legend-dot-1"/>
          <p:cNvSpPr/>
          <p:nvPr/>
        </p:nvSpPr>
        <p:spPr>
          <a:xfrm>
            <a:off x="2423160" y="5349240"/>
            <a:ext cx="201168" cy="201168"/>
          </a:xfrm>
          <a:prstGeom prst="ellipse">
            <a:avLst/>
          </a:prstGeom>
          <a:solidFill>
            <a:schemeClr val="accent2"/>
          </a:solidFill>
          <a:ln w="12700">
            <a:solidFill>
              <a:schemeClr val="accent2"/>
            </a:solidFill>
            <a:prstDash val="solid"/>
          </a:ln>
        </p:spPr>
      </p:sp>
      <p:sp>
        <p:nvSpPr>
          <p:cNvPr id="23" name="Text 21"/>
          <p:cNvSpPr txBox="1"/>
          <p:nvPr/>
        </p:nvSpPr>
        <p:spPr>
          <a:xfrm>
            <a:off x="2697480" y="5285232"/>
            <a:ext cx="1645920" cy="6858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5 carry one-sided or missing terms</a:t>
            </a:r>
            <a:endParaRPr lang="en-US" sz="1300" dirty="0"/>
          </a:p>
        </p:txBody>
      </p:sp>
      <p:sp>
        <p:nvSpPr>
          <p:cNvPr id="24" name="legend-dot-2"/>
          <p:cNvSpPr/>
          <p:nvPr/>
        </p:nvSpPr>
        <p:spPr>
          <a:xfrm>
            <a:off x="4297680" y="5349240"/>
            <a:ext cx="201168" cy="201168"/>
          </a:xfrm>
          <a:prstGeom prst="ellipse">
            <a:avLst/>
          </a:prstGeom>
          <a:solidFill>
            <a:schemeClr val="accent4"/>
          </a:solidFill>
          <a:ln w="12700">
            <a:solidFill>
              <a:schemeClr val="accent4"/>
            </a:solidFill>
            <a:prstDash val="solid"/>
          </a:ln>
        </p:spPr>
      </p:sp>
      <p:sp>
        <p:nvSpPr>
          <p:cNvPr id="25" name="Text 23"/>
          <p:cNvSpPr txBox="1"/>
          <p:nvPr/>
        </p:nvSpPr>
        <p:spPr>
          <a:xfrm>
            <a:off x="4572000" y="5285232"/>
            <a:ext cx="1645920" cy="68580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3 safe to sign as they are</a:t>
            </a:r>
            <a:endParaRPr lang="en-US" sz="1300" dirty="0"/>
          </a:p>
        </p:txBody>
      </p:sp>
      <p:sp>
        <p:nvSpPr>
          <p:cNvPr id="26" name="insight-card"/>
          <p:cNvSpPr/>
          <p:nvPr/>
        </p:nvSpPr>
        <p:spPr>
          <a:xfrm>
            <a:off x="6583680" y="1691640"/>
            <a:ext cx="5029200" cy="4343400"/>
          </a:xfrm>
          <a:prstGeom prst="roundRect">
            <a:avLst>
              <a:gd name="adj" fmla="val 1684"/>
            </a:avLst>
          </a:prstGeom>
          <a:solidFill>
            <a:schemeClr val="accent6"/>
          </a:solidFill>
          <a:ln w="12700">
            <a:solidFill>
              <a:schemeClr val="accent6"/>
            </a:solidFill>
            <a:prstDash val="solid"/>
          </a:ln>
        </p:spPr>
      </p:sp>
      <p:sp>
        <p:nvSpPr>
          <p:cNvPr id="27" name="Text 25"/>
          <p:cNvSpPr txBox="1"/>
          <p:nvPr/>
        </p:nvSpPr>
        <p:spPr>
          <a:xfrm>
            <a:off x="6858000" y="1874520"/>
            <a:ext cx="4572000" cy="36576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Examples you can't see from the draft alone</a:t>
            </a:r>
            <a:endParaRPr lang="en-US" sz="1700" dirty="0"/>
          </a:p>
        </p:txBody>
      </p:sp>
      <p:sp>
        <p:nvSpPr>
          <p:cNvPr id="28" name="Text 26"/>
          <p:cNvSpPr txBox="1"/>
          <p:nvPr/>
        </p:nvSpPr>
        <p:spPr>
          <a:xfrm>
            <a:off x="6858000" y="2331720"/>
            <a:ext cx="4572000" cy="3566160"/>
          </a:xfrm>
          <a:prstGeom prst="rect">
            <a:avLst/>
          </a:prstGeom>
          <a:noFill/>
          <a:ln/>
        </p:spPr>
        <p:txBody>
          <a:bodyPr wrap="square" lIns="0" tIns="0" rIns="0" bIns="0" rtlCol="0" anchor="t"/>
          <a:lstStyle/>
          <a:p>
            <a:pPr marL="0" indent="0">
              <a:spcAft>
                <a:spcPts val="400"/>
              </a:spcAft>
              <a:buNone/>
            </a:pPr>
            <a:r>
              <a:rPr lang="en-US" sz="1500" b="1" dirty="0">
                <a:solidFill>
                  <a:schemeClr val="tx1"/>
                </a:solidFill>
                <a:latin typeface="Calibri" pitchFamily="34" charset="0"/>
                <a:ea typeface="Calibri" pitchFamily="34" charset="-122"/>
                <a:cs typeface="Calibri" pitchFamily="34" charset="-120"/>
              </a:rPr>
              <a:t>Gulf Crown, BlueOrchid, TravelHub</a:t>
            </a:r>
            <a:endParaRPr lang="en-US" sz="1500" dirty="0"/>
          </a:p>
          <a:p>
            <a:pPr marL="0" indent="0">
              <a:spcAft>
                <a:spcPts val="400"/>
              </a:spcAft>
              <a:buNone/>
            </a:pPr>
            <a:r>
              <a:rPr lang="en-US" sz="1500" dirty="0">
                <a:solidFill>
                  <a:schemeClr val="tx1"/>
                </a:solidFill>
                <a:latin typeface="Calibri" pitchFamily="34" charset="0"/>
                <a:ea typeface="Calibri" pitchFamily="34" charset="-122"/>
                <a:cs typeface="Calibri" pitchFamily="34" charset="-120"/>
              </a:rPr>
              <a:t>break the Al Noor GCC hotel non-compete (binds AtliQ Inc too, until Sept 2029)</a:t>
            </a:r>
            <a:endParaRPr lang="en-US" sz="1500" dirty="0"/>
          </a:p>
          <a:p>
            <a:pPr marL="0" indent="0">
              <a:spcAft>
                <a:spcPts val="400"/>
              </a:spcAft>
              <a:buNone/>
            </a:pPr>
            <a:r>
              <a:rPr lang="en-US" sz="1500" b="1" dirty="0">
                <a:solidFill>
                  <a:schemeClr val="tx1"/>
                </a:solidFill>
                <a:latin typeface="Calibri" pitchFamily="34" charset="0"/>
                <a:ea typeface="Calibri" pitchFamily="34" charset="-122"/>
                <a:cs typeface="Calibri" pitchFamily="34" charset="-120"/>
              </a:rPr>
              <a:t>Datavane</a:t>
            </a:r>
            <a:endParaRPr lang="en-US" sz="1500" dirty="0"/>
          </a:p>
          <a:p>
            <a:pPr marL="0" indent="0">
              <a:spcAft>
                <a:spcPts val="400"/>
              </a:spcAft>
              <a:buNone/>
            </a:pPr>
            <a:r>
              <a:rPr lang="en-US" sz="1500" dirty="0">
                <a:solidFill>
                  <a:schemeClr val="tx1"/>
                </a:solidFill>
                <a:latin typeface="Calibri" pitchFamily="34" charset="0"/>
                <a:ea typeface="Calibri" pitchFamily="34" charset="-122"/>
                <a:cs typeface="Calibri" pitchFamily="34" charset="-120"/>
              </a:rPr>
              <a:t>breaks CloudSpan's India + GCC exclusivity</a:t>
            </a:r>
            <a:endParaRPr lang="en-US" sz="1500" dirty="0"/>
          </a:p>
          <a:p>
            <a:pPr marL="0" indent="0">
              <a:spcAft>
                <a:spcPts val="400"/>
              </a:spcAft>
              <a:buNone/>
            </a:pPr>
            <a:r>
              <a:rPr lang="en-US" sz="1500" b="1" dirty="0">
                <a:solidFill>
                  <a:schemeClr val="tx1"/>
                </a:solidFill>
                <a:latin typeface="Calibri" pitchFamily="34" charset="0"/>
                <a:ea typeface="Calibri" pitchFamily="34" charset="-122"/>
                <a:cs typeface="Calibri" pitchFamily="34" charset="-120"/>
              </a:rPr>
              <a:t>Lakeshore</a:t>
            </a:r>
            <a:endParaRPr lang="en-US" sz="1500" dirty="0"/>
          </a:p>
          <a:p>
            <a:pPr marL="0" indent="0">
              <a:spcAft>
                <a:spcPts val="400"/>
              </a:spcAft>
              <a:buNone/>
            </a:pPr>
            <a:r>
              <a:rPr lang="en-US" sz="1500" dirty="0">
                <a:solidFill>
                  <a:schemeClr val="tx1"/>
                </a:solidFill>
                <a:latin typeface="Calibri" pitchFamily="34" charset="0"/>
                <a:ea typeface="Calibri" pitchFamily="34" charset="-122"/>
                <a:cs typeface="Calibri" pitchFamily="34" charset="-120"/>
              </a:rPr>
              <a:t>undercuts Crestline's lowest-price promise ($72 vs $85/hr)</a:t>
            </a:r>
            <a:endParaRPr lang="en-US" sz="1500" dirty="0"/>
          </a:p>
          <a:p>
            <a:pPr marL="0" indent="0">
              <a:spcAft>
                <a:spcPts val="400"/>
              </a:spcAft>
              <a:buNone/>
            </a:pPr>
            <a:r>
              <a:rPr lang="en-US" sz="1500" b="1" dirty="0">
                <a:solidFill>
                  <a:schemeClr val="tx1"/>
                </a:solidFill>
                <a:latin typeface="Calibri" pitchFamily="34" charset="0"/>
                <a:ea typeface="Calibri" pitchFamily="34" charset="-122"/>
                <a:cs typeface="Calibri" pitchFamily="34" charset="-120"/>
              </a:rPr>
              <a:t>Rheinwerk</a:t>
            </a:r>
            <a:endParaRPr lang="en-US" sz="1500" dirty="0"/>
          </a:p>
          <a:p>
            <a:pPr marL="0" indent="0">
              <a:spcAft>
                <a:spcPts val="400"/>
              </a:spcAft>
              <a:buNone/>
            </a:pPr>
            <a:r>
              <a:rPr lang="en-US" sz="1500" dirty="0">
                <a:solidFill>
                  <a:schemeClr val="tx1"/>
                </a:solidFill>
                <a:latin typeface="Calibri" pitchFamily="34" charset="0"/>
                <a:ea typeface="Calibri" pitchFamily="34" charset="-122"/>
                <a:cs typeface="Calibri" pitchFamily="34" charset="-120"/>
              </a:rPr>
              <a:t>asks us to own PipeKit, which we gave to Northwind</a:t>
            </a:r>
            <a:endParaRPr lang="en-US" sz="1500" dirty="0"/>
          </a:p>
        </p:txBody>
      </p:sp>
      <p:sp>
        <p:nvSpPr>
          <p:cNvPr id="29"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329184"/>
          </a:xfrm>
          <a:prstGeom prst="rect">
            <a:avLst/>
          </a:prstGeom>
          <a:noFill/>
          <a:ln/>
        </p:spPr>
        <p:txBody>
          <a:bodyPr wrap="square" lIns="0" tIns="0" rIns="0" bIns="0" rtlCol="0"/>
          <a:lstStyle/>
          <a:p>
            <a:pPr marL="0" indent="0">
              <a:buNone/>
            </a:pPr>
            <a:r>
              <a:rPr lang="en-US" sz="1200" b="1" dirty="0">
                <a:solidFill>
                  <a:schemeClr val="accent1"/>
                </a:solidFill>
                <a:latin typeface="Calibri" pitchFamily="34" charset="0"/>
                <a:ea typeface="Calibri" pitchFamily="34" charset="-122"/>
                <a:cs typeface="Calibri" pitchFamily="34" charset="-120"/>
              </a:rPr>
              <a:t>ROOT CAUSE</a:t>
            </a:r>
            <a:endParaRPr lang="en-US" sz="1200" dirty="0"/>
          </a:p>
        </p:txBody>
      </p:sp>
      <p:sp>
        <p:nvSpPr>
          <p:cNvPr id="3" name="Text 0"/>
          <p:cNvSpPr>
            <a:spLocks noGrp="1"/>
          </p:cNvSpPr>
          <p:nvPr>
            <p:ph type="title" idx="101" hasCustomPrompt="1"/>
          </p:nvPr>
        </p:nvSpPr>
        <p:spPr>
          <a:xfrm>
            <a:off x="548640" y="603504"/>
            <a:ext cx="11064240" cy="868680"/>
          </a:xfrm>
          <a:prstGeom prst="rect">
            <a:avLst/>
          </a:prstGeom>
          <a:noFill/>
          <a:ln/>
        </p:spPr>
        <p:txBody>
          <a:bodyPr wrap="square" lIns="0" tIns="0" rIns="0" bIns="0" rtlCol="0" anchor="t"/>
          <a:lstStyle/>
          <a:p>
            <a:pPr marL="0" indent="0" algn="l">
              <a:buNone/>
            </a:pPr>
            <a:r>
              <a:rPr lang="en-US" sz="3000" b="1" dirty="0">
                <a:solidFill>
                  <a:schemeClr val="tx2"/>
                </a:solidFill>
                <a:latin typeface="Cambria" pitchFamily="34" charset="0"/>
                <a:ea typeface="Cambria" pitchFamily="34" charset="-122"/>
                <a:cs typeface="Cambria" pitchFamily="34" charset="-120"/>
              </a:rPr>
              <a:t>AtliQ has no memory of what it has promised – only yours</a:t>
            </a:r>
            <a:endParaRPr lang="en-US" sz="3000" dirty="0"/>
          </a:p>
        </p:txBody>
      </p:sp>
      <p:sp>
        <p:nvSpPr>
          <p:cNvPr id="4" name="why-0"/>
          <p:cNvSpPr/>
          <p:nvPr/>
        </p:nvSpPr>
        <p:spPr>
          <a:xfrm>
            <a:off x="548640" y="1828800"/>
            <a:ext cx="2057400" cy="1600200"/>
          </a:xfrm>
          <a:prstGeom prst="roundRect">
            <a:avLst>
              <a:gd name="adj" fmla="val 4571"/>
            </a:avLst>
          </a:prstGeom>
          <a:solidFill>
            <a:schemeClr val="bg2"/>
          </a:solidFill>
          <a:ln w="12700">
            <a:solidFill>
              <a:schemeClr val="bg2"/>
            </a:solidFill>
            <a:prstDash val="solid"/>
          </a:ln>
        </p:spPr>
      </p:sp>
      <p:sp>
        <p:nvSpPr>
          <p:cNvPr id="5" name="Text 3"/>
          <p:cNvSpPr txBox="1"/>
          <p:nvPr/>
        </p:nvSpPr>
        <p:spPr>
          <a:xfrm>
            <a:off x="731520" y="1965960"/>
            <a:ext cx="1737360" cy="274320"/>
          </a:xfrm>
          <a:prstGeom prst="rect">
            <a:avLst/>
          </a:prstGeom>
          <a:noFill/>
          <a:ln/>
        </p:spPr>
        <p:txBody>
          <a:bodyPr wrap="square" lIns="0" tIns="0" rIns="0" bIns="0" rtlCol="0" anchor="t"/>
          <a:lstStyle/>
          <a:p>
            <a:pPr marL="0" indent="0">
              <a:buNone/>
            </a:pPr>
            <a:r>
              <a:rPr lang="en-US" sz="1200" b="1" dirty="0">
                <a:solidFill>
                  <a:schemeClr val="accent1"/>
                </a:solidFill>
                <a:latin typeface="Calibri" pitchFamily="34" charset="0"/>
                <a:ea typeface="Calibri" pitchFamily="34" charset="-122"/>
                <a:cs typeface="Calibri" pitchFamily="34" charset="-120"/>
              </a:rPr>
              <a:t>WHY 1</a:t>
            </a:r>
            <a:endParaRPr lang="en-US" sz="1200" dirty="0"/>
          </a:p>
        </p:txBody>
      </p:sp>
      <p:sp>
        <p:nvSpPr>
          <p:cNvPr id="6" name="Text 4"/>
          <p:cNvSpPr txBox="1"/>
          <p:nvPr/>
        </p:nvSpPr>
        <p:spPr>
          <a:xfrm>
            <a:off x="731520" y="2286000"/>
            <a:ext cx="1737360" cy="10972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Deals don't close</a:t>
            </a:r>
            <a:endParaRPr lang="en-US" sz="1500" dirty="0"/>
          </a:p>
        </p:txBody>
      </p:sp>
      <p:sp>
        <p:nvSpPr>
          <p:cNvPr id="7" name="arrow-0"/>
          <p:cNvSpPr/>
          <p:nvPr/>
        </p:nvSpPr>
        <p:spPr>
          <a:xfrm>
            <a:off x="2651760" y="2487168"/>
            <a:ext cx="155448" cy="274320"/>
          </a:xfrm>
          <a:prstGeom prst="chevron">
            <a:avLst/>
          </a:prstGeom>
          <a:solidFill>
            <a:schemeClr val="accent5"/>
          </a:solidFill>
          <a:ln w="12700">
            <a:solidFill>
              <a:schemeClr val="accent5"/>
            </a:solidFill>
            <a:prstDash val="solid"/>
          </a:ln>
        </p:spPr>
      </p:sp>
      <p:sp>
        <p:nvSpPr>
          <p:cNvPr id="8" name="why-1"/>
          <p:cNvSpPr/>
          <p:nvPr/>
        </p:nvSpPr>
        <p:spPr>
          <a:xfrm>
            <a:off x="2834640" y="1828800"/>
            <a:ext cx="2057400" cy="1600200"/>
          </a:xfrm>
          <a:prstGeom prst="roundRect">
            <a:avLst>
              <a:gd name="adj" fmla="val 4571"/>
            </a:avLst>
          </a:prstGeom>
          <a:solidFill>
            <a:schemeClr val="bg2"/>
          </a:solidFill>
          <a:ln w="12700">
            <a:solidFill>
              <a:schemeClr val="bg2"/>
            </a:solidFill>
            <a:prstDash val="solid"/>
          </a:ln>
        </p:spPr>
      </p:sp>
      <p:sp>
        <p:nvSpPr>
          <p:cNvPr id="9" name="Text 7"/>
          <p:cNvSpPr txBox="1"/>
          <p:nvPr/>
        </p:nvSpPr>
        <p:spPr>
          <a:xfrm>
            <a:off x="3017520" y="1965960"/>
            <a:ext cx="1737360" cy="274320"/>
          </a:xfrm>
          <a:prstGeom prst="rect">
            <a:avLst/>
          </a:prstGeom>
          <a:noFill/>
          <a:ln/>
        </p:spPr>
        <p:txBody>
          <a:bodyPr wrap="square" lIns="0" tIns="0" rIns="0" bIns="0" rtlCol="0" anchor="t"/>
          <a:lstStyle/>
          <a:p>
            <a:pPr marL="0" indent="0">
              <a:buNone/>
            </a:pPr>
            <a:r>
              <a:rPr lang="en-US" sz="1200" b="1" dirty="0">
                <a:solidFill>
                  <a:schemeClr val="accent1"/>
                </a:solidFill>
                <a:latin typeface="Calibri" pitchFamily="34" charset="0"/>
                <a:ea typeface="Calibri" pitchFamily="34" charset="-122"/>
                <a:cs typeface="Calibri" pitchFamily="34" charset="-120"/>
              </a:rPr>
              <a:t>WHY 2</a:t>
            </a:r>
            <a:endParaRPr lang="en-US" sz="1200" dirty="0"/>
          </a:p>
        </p:txBody>
      </p:sp>
      <p:sp>
        <p:nvSpPr>
          <p:cNvPr id="10" name="Text 8"/>
          <p:cNvSpPr txBox="1"/>
          <p:nvPr/>
        </p:nvSpPr>
        <p:spPr>
          <a:xfrm>
            <a:off x="3017520" y="2286000"/>
            <a:ext cx="1737360" cy="10972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Contracts wait 1 week – 1 month for you</a:t>
            </a:r>
            <a:endParaRPr lang="en-US" sz="1500" dirty="0"/>
          </a:p>
        </p:txBody>
      </p:sp>
      <p:sp>
        <p:nvSpPr>
          <p:cNvPr id="11" name="arrow-1"/>
          <p:cNvSpPr/>
          <p:nvPr/>
        </p:nvSpPr>
        <p:spPr>
          <a:xfrm>
            <a:off x="4937760" y="2487168"/>
            <a:ext cx="155448" cy="274320"/>
          </a:xfrm>
          <a:prstGeom prst="chevron">
            <a:avLst/>
          </a:prstGeom>
          <a:solidFill>
            <a:schemeClr val="accent5"/>
          </a:solidFill>
          <a:ln w="12700">
            <a:solidFill>
              <a:schemeClr val="accent5"/>
            </a:solidFill>
            <a:prstDash val="solid"/>
          </a:ln>
        </p:spPr>
      </p:sp>
      <p:sp>
        <p:nvSpPr>
          <p:cNvPr id="12" name="why-2"/>
          <p:cNvSpPr/>
          <p:nvPr/>
        </p:nvSpPr>
        <p:spPr>
          <a:xfrm>
            <a:off x="5120640" y="1828800"/>
            <a:ext cx="2057400" cy="1600200"/>
          </a:xfrm>
          <a:prstGeom prst="roundRect">
            <a:avLst>
              <a:gd name="adj" fmla="val 4571"/>
            </a:avLst>
          </a:prstGeom>
          <a:solidFill>
            <a:schemeClr val="bg2"/>
          </a:solidFill>
          <a:ln w="12700">
            <a:solidFill>
              <a:schemeClr val="bg2"/>
            </a:solidFill>
            <a:prstDash val="solid"/>
          </a:ln>
        </p:spPr>
      </p:sp>
      <p:sp>
        <p:nvSpPr>
          <p:cNvPr id="13" name="Text 11"/>
          <p:cNvSpPr txBox="1"/>
          <p:nvPr/>
        </p:nvSpPr>
        <p:spPr>
          <a:xfrm>
            <a:off x="5303520" y="1965960"/>
            <a:ext cx="1737360" cy="274320"/>
          </a:xfrm>
          <a:prstGeom prst="rect">
            <a:avLst/>
          </a:prstGeom>
          <a:noFill/>
          <a:ln/>
        </p:spPr>
        <p:txBody>
          <a:bodyPr wrap="square" lIns="0" tIns="0" rIns="0" bIns="0" rtlCol="0" anchor="t"/>
          <a:lstStyle/>
          <a:p>
            <a:pPr marL="0" indent="0">
              <a:buNone/>
            </a:pPr>
            <a:r>
              <a:rPr lang="en-US" sz="1200" b="1" dirty="0">
                <a:solidFill>
                  <a:schemeClr val="accent1"/>
                </a:solidFill>
                <a:latin typeface="Calibri" pitchFamily="34" charset="0"/>
                <a:ea typeface="Calibri" pitchFamily="34" charset="-122"/>
                <a:cs typeface="Calibri" pitchFamily="34" charset="-120"/>
              </a:rPr>
              <a:t>WHY 3</a:t>
            </a:r>
            <a:endParaRPr lang="en-US" sz="1200" dirty="0"/>
          </a:p>
        </p:txBody>
      </p:sp>
      <p:sp>
        <p:nvSpPr>
          <p:cNvPr id="14" name="Text 12"/>
          <p:cNvSpPr txBox="1"/>
          <p:nvPr/>
        </p:nvSpPr>
        <p:spPr>
          <a:xfrm>
            <a:off x="5303520" y="2286000"/>
            <a:ext cx="1737360" cy="10972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Each needs 3–4 hours of your reading</a:t>
            </a:r>
            <a:endParaRPr lang="en-US" sz="1500" dirty="0"/>
          </a:p>
        </p:txBody>
      </p:sp>
      <p:sp>
        <p:nvSpPr>
          <p:cNvPr id="15" name="arrow-2"/>
          <p:cNvSpPr/>
          <p:nvPr/>
        </p:nvSpPr>
        <p:spPr>
          <a:xfrm>
            <a:off x="7223760" y="2487168"/>
            <a:ext cx="155448" cy="274320"/>
          </a:xfrm>
          <a:prstGeom prst="chevron">
            <a:avLst/>
          </a:prstGeom>
          <a:solidFill>
            <a:schemeClr val="accent5"/>
          </a:solidFill>
          <a:ln w="12700">
            <a:solidFill>
              <a:schemeClr val="accent5"/>
            </a:solidFill>
            <a:prstDash val="solid"/>
          </a:ln>
        </p:spPr>
      </p:sp>
      <p:sp>
        <p:nvSpPr>
          <p:cNvPr id="16" name="why-3"/>
          <p:cNvSpPr/>
          <p:nvPr/>
        </p:nvSpPr>
        <p:spPr>
          <a:xfrm>
            <a:off x="7406640" y="1828800"/>
            <a:ext cx="2057400" cy="1600200"/>
          </a:xfrm>
          <a:prstGeom prst="roundRect">
            <a:avLst>
              <a:gd name="adj" fmla="val 4571"/>
            </a:avLst>
          </a:prstGeom>
          <a:solidFill>
            <a:schemeClr val="bg2"/>
          </a:solidFill>
          <a:ln w="12700">
            <a:solidFill>
              <a:schemeClr val="bg2"/>
            </a:solidFill>
            <a:prstDash val="solid"/>
          </a:ln>
        </p:spPr>
      </p:sp>
      <p:sp>
        <p:nvSpPr>
          <p:cNvPr id="17" name="Text 15"/>
          <p:cNvSpPr txBox="1"/>
          <p:nvPr/>
        </p:nvSpPr>
        <p:spPr>
          <a:xfrm>
            <a:off x="7589520" y="1965960"/>
            <a:ext cx="1737360" cy="274320"/>
          </a:xfrm>
          <a:prstGeom prst="rect">
            <a:avLst/>
          </a:prstGeom>
          <a:noFill/>
          <a:ln/>
        </p:spPr>
        <p:txBody>
          <a:bodyPr wrap="square" lIns="0" tIns="0" rIns="0" bIns="0" rtlCol="0" anchor="t"/>
          <a:lstStyle/>
          <a:p>
            <a:pPr marL="0" indent="0">
              <a:buNone/>
            </a:pPr>
            <a:r>
              <a:rPr lang="en-US" sz="1200" b="1" dirty="0">
                <a:solidFill>
                  <a:schemeClr val="accent1"/>
                </a:solidFill>
                <a:latin typeface="Calibri" pitchFamily="34" charset="0"/>
                <a:ea typeface="Calibri" pitchFamily="34" charset="-122"/>
                <a:cs typeface="Calibri" pitchFamily="34" charset="-120"/>
              </a:rPr>
              <a:t>WHY 4</a:t>
            </a:r>
            <a:endParaRPr lang="en-US" sz="1200" dirty="0"/>
          </a:p>
        </p:txBody>
      </p:sp>
      <p:sp>
        <p:nvSpPr>
          <p:cNvPr id="18" name="Text 16"/>
          <p:cNvSpPr txBox="1"/>
          <p:nvPr/>
        </p:nvSpPr>
        <p:spPr>
          <a:xfrm>
            <a:off x="7589520" y="2286000"/>
            <a:ext cx="1737360" cy="10972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The real risk sits in past contracts</a:t>
            </a:r>
            <a:endParaRPr lang="en-US" sz="1500" dirty="0"/>
          </a:p>
        </p:txBody>
      </p:sp>
      <p:sp>
        <p:nvSpPr>
          <p:cNvPr id="19" name="arrow-3"/>
          <p:cNvSpPr/>
          <p:nvPr/>
        </p:nvSpPr>
        <p:spPr>
          <a:xfrm>
            <a:off x="9509760" y="2487168"/>
            <a:ext cx="155448" cy="274320"/>
          </a:xfrm>
          <a:prstGeom prst="chevron">
            <a:avLst/>
          </a:prstGeom>
          <a:solidFill>
            <a:schemeClr val="accent5"/>
          </a:solidFill>
          <a:ln w="12700">
            <a:solidFill>
              <a:schemeClr val="accent5"/>
            </a:solidFill>
            <a:prstDash val="solid"/>
          </a:ln>
        </p:spPr>
      </p:sp>
      <p:sp>
        <p:nvSpPr>
          <p:cNvPr id="20" name="why-4"/>
          <p:cNvSpPr/>
          <p:nvPr/>
        </p:nvSpPr>
        <p:spPr>
          <a:xfrm>
            <a:off x="9692640" y="1828800"/>
            <a:ext cx="2057400" cy="1600200"/>
          </a:xfrm>
          <a:prstGeom prst="roundRect">
            <a:avLst>
              <a:gd name="adj" fmla="val 4571"/>
            </a:avLst>
          </a:prstGeom>
          <a:solidFill>
            <a:schemeClr val="tx2"/>
          </a:solidFill>
          <a:ln w="12700">
            <a:solidFill>
              <a:schemeClr val="tx2"/>
            </a:solidFill>
            <a:prstDash val="solid"/>
          </a:ln>
        </p:spPr>
      </p:sp>
      <p:sp>
        <p:nvSpPr>
          <p:cNvPr id="21" name="Text 19"/>
          <p:cNvSpPr txBox="1"/>
          <p:nvPr/>
        </p:nvSpPr>
        <p:spPr>
          <a:xfrm>
            <a:off x="9875520" y="1965960"/>
            <a:ext cx="1737360" cy="274320"/>
          </a:xfrm>
          <a:prstGeom prst="rect">
            <a:avLst/>
          </a:prstGeom>
          <a:noFill/>
          <a:ln/>
        </p:spPr>
        <p:txBody>
          <a:bodyPr wrap="square" lIns="0" tIns="0" rIns="0" bIns="0" rtlCol="0" anchor="t"/>
          <a:lstStyle/>
          <a:p>
            <a:pPr marL="0" indent="0">
              <a:buNone/>
            </a:pPr>
            <a:r>
              <a:rPr lang="en-US" sz="1200" b="1" dirty="0">
                <a:solidFill>
                  <a:schemeClr val="accent2"/>
                </a:solidFill>
                <a:latin typeface="Calibri" pitchFamily="34" charset="0"/>
                <a:ea typeface="Calibri" pitchFamily="34" charset="-122"/>
                <a:cs typeface="Calibri" pitchFamily="34" charset="-120"/>
              </a:rPr>
              <a:t>WHY 5</a:t>
            </a:r>
            <a:endParaRPr lang="en-US" sz="1200" dirty="0"/>
          </a:p>
        </p:txBody>
      </p:sp>
      <p:sp>
        <p:nvSpPr>
          <p:cNvPr id="22" name="Text 20"/>
          <p:cNvSpPr txBox="1"/>
          <p:nvPr/>
        </p:nvSpPr>
        <p:spPr>
          <a:xfrm>
            <a:off x="9875520" y="2286000"/>
            <a:ext cx="1737360" cy="1097280"/>
          </a:xfrm>
          <a:prstGeom prst="rect">
            <a:avLst/>
          </a:prstGeom>
          <a:noFill/>
          <a:ln/>
        </p:spPr>
        <p:txBody>
          <a:bodyPr wrap="square" lIns="0" tIns="0" rIns="0" bIns="0" rtlCol="0" anchor="t"/>
          <a:lstStyle/>
          <a:p>
            <a:pPr marL="0" indent="0">
              <a:buNone/>
            </a:pPr>
            <a:r>
              <a:rPr lang="en-US" sz="1500" dirty="0">
                <a:solidFill>
                  <a:schemeClr val="bg1"/>
                </a:solidFill>
                <a:latin typeface="Calibri" pitchFamily="34" charset="0"/>
                <a:ea typeface="Calibri" pitchFamily="34" charset="-122"/>
                <a:cs typeface="Calibri" pitchFamily="34" charset="-120"/>
              </a:rPr>
              <a:t>17 signed contracts in 6 places: inboxes, drives, a laptop</a:t>
            </a:r>
            <a:endParaRPr lang="en-US" sz="1500" dirty="0"/>
          </a:p>
        </p:txBody>
      </p:sp>
      <p:sp>
        <p:nvSpPr>
          <p:cNvPr id="23" name="rootcause-card"/>
          <p:cNvSpPr/>
          <p:nvPr/>
        </p:nvSpPr>
        <p:spPr>
          <a:xfrm>
            <a:off x="548640" y="3840480"/>
            <a:ext cx="11064240" cy="2148840"/>
          </a:xfrm>
          <a:prstGeom prst="roundRect">
            <a:avLst>
              <a:gd name="adj" fmla="val 3404"/>
            </a:avLst>
          </a:prstGeom>
          <a:solidFill>
            <a:schemeClr val="accent6"/>
          </a:solidFill>
          <a:ln w="12700">
            <a:solidFill>
              <a:schemeClr val="accent6"/>
            </a:solidFill>
            <a:prstDash val="solid"/>
          </a:ln>
        </p:spPr>
      </p:sp>
      <p:sp>
        <p:nvSpPr>
          <p:cNvPr id="24" name="icon-circle"/>
          <p:cNvSpPr/>
          <p:nvPr/>
        </p:nvSpPr>
        <p:spPr>
          <a:xfrm>
            <a:off x="868680" y="4160520"/>
            <a:ext cx="777240" cy="777240"/>
          </a:xfrm>
          <a:prstGeom prst="ellipse">
            <a:avLst/>
          </a:prstGeom>
          <a:solidFill>
            <a:schemeClr val="tx2"/>
          </a:solidFill>
          <a:ln w="12700">
            <a:solidFill>
              <a:schemeClr val="tx2"/>
            </a:solidFill>
            <a:prstDash val="solid"/>
          </a:ln>
        </p:spPr>
      </p:sp>
      <p:pic>
        <p:nvPicPr>
          <p:cNvPr id="25" name="icon-FaBrain" descr="preencoded.png"/>
          <p:cNvPicPr>
            <a:picLocks noChangeAspect="1"/>
          </p:cNvPicPr>
          <p:nvPr/>
        </p:nvPicPr>
        <p:blipFill>
          <a:blip r:embed="rId3"/>
          <a:stretch>
            <a:fillRect/>
          </a:stretch>
        </p:blipFill>
        <p:spPr>
          <a:xfrm>
            <a:off x="1055218" y="4347058"/>
            <a:ext cx="404165" cy="404165"/>
          </a:xfrm>
          <a:prstGeom prst="rect">
            <a:avLst/>
          </a:prstGeom>
        </p:spPr>
      </p:pic>
      <p:sp>
        <p:nvSpPr>
          <p:cNvPr id="26" name="Text 23"/>
          <p:cNvSpPr txBox="1"/>
          <p:nvPr/>
        </p:nvSpPr>
        <p:spPr>
          <a:xfrm>
            <a:off x="1920240" y="4114800"/>
            <a:ext cx="9144000" cy="36576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Root cause</a:t>
            </a:r>
            <a:endParaRPr lang="en-US" sz="1800" dirty="0"/>
          </a:p>
        </p:txBody>
      </p:sp>
      <p:sp>
        <p:nvSpPr>
          <p:cNvPr id="27" name="Text 24"/>
          <p:cNvSpPr txBox="1"/>
          <p:nvPr/>
        </p:nvSpPr>
        <p:spPr>
          <a:xfrm>
            <a:off x="1920240" y="4526280"/>
            <a:ext cx="9418320" cy="128016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There is no step after signing that records what AtliQ committed to and the positions you negotiated. So every review starts from scratch and from memory, and real risks like conflicts and one-sided indemnity get missed under time pressure.</a:t>
            </a:r>
            <a:endParaRPr lang="en-US" sz="1600" dirty="0"/>
          </a:p>
        </p:txBody>
      </p:sp>
      <p:sp>
        <p:nvSpPr>
          <p:cNvPr id="28"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329184"/>
          </a:xfrm>
          <a:prstGeom prst="rect">
            <a:avLst/>
          </a:prstGeom>
          <a:noFill/>
          <a:ln/>
        </p:spPr>
        <p:txBody>
          <a:bodyPr wrap="square" lIns="0" tIns="0" rIns="0" bIns="0" rtlCol="0"/>
          <a:lstStyle/>
          <a:p>
            <a:pPr marL="0" indent="0">
              <a:buNone/>
            </a:pPr>
            <a:r>
              <a:rPr lang="en-US" sz="1200" b="1" dirty="0">
                <a:solidFill>
                  <a:schemeClr val="accent1"/>
                </a:solidFill>
                <a:latin typeface="Calibri" pitchFamily="34" charset="0"/>
                <a:ea typeface="Calibri" pitchFamily="34" charset="-122"/>
                <a:cs typeface="Calibri" pitchFamily="34" charset="-120"/>
              </a:rPr>
              <a:t>THE OPPORTUNITY WE CHOSE</a:t>
            </a:r>
            <a:endParaRPr lang="en-US" sz="1200" dirty="0"/>
          </a:p>
        </p:txBody>
      </p:sp>
      <p:sp>
        <p:nvSpPr>
          <p:cNvPr id="3" name="Text 0"/>
          <p:cNvSpPr>
            <a:spLocks noGrp="1"/>
          </p:cNvSpPr>
          <p:nvPr>
            <p:ph type="title" idx="101" hasCustomPrompt="1"/>
          </p:nvPr>
        </p:nvSpPr>
        <p:spPr>
          <a:xfrm>
            <a:off x="548640" y="603504"/>
            <a:ext cx="11064240" cy="868680"/>
          </a:xfrm>
          <a:prstGeom prst="rect">
            <a:avLst/>
          </a:prstGeom>
          <a:noFill/>
          <a:ln/>
        </p:spPr>
        <p:txBody>
          <a:bodyPr wrap="square" lIns="0" tIns="0" rIns="0" bIns="0" rtlCol="0" anchor="t"/>
          <a:lstStyle/>
          <a:p>
            <a:pPr marL="0" indent="0" algn="l">
              <a:buNone/>
            </a:pPr>
            <a:r>
              <a:rPr lang="en-US" sz="3000" b="1" dirty="0">
                <a:solidFill>
                  <a:schemeClr val="tx2"/>
                </a:solidFill>
                <a:latin typeface="Cambria" pitchFamily="34" charset="0"/>
                <a:ea typeface="Cambria" pitchFamily="34" charset="-122"/>
                <a:cs typeface="Cambria" pitchFamily="34" charset="-120"/>
              </a:rPr>
              <a:t>Focus on review, with hard lines around what AI may do</a:t>
            </a:r>
            <a:endParaRPr lang="en-US" sz="3000" dirty="0"/>
          </a:p>
        </p:txBody>
      </p:sp>
      <p:sp>
        <p:nvSpPr>
          <p:cNvPr id="4" name="Text 2"/>
          <p:cNvSpPr txBox="1"/>
          <p:nvPr/>
        </p:nvSpPr>
        <p:spPr>
          <a:xfrm>
            <a:off x="548640" y="1645920"/>
            <a:ext cx="11064240" cy="5029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Of the 10 steps from inbox to signature, most of the time and every costly miss sits in one step: reviewing. That's where ACA works.</a:t>
            </a:r>
            <a:endParaRPr lang="en-US" sz="1600" dirty="0"/>
          </a:p>
        </p:txBody>
      </p:sp>
      <p:sp>
        <p:nvSpPr>
          <p:cNvPr id="5" name="col-0"/>
          <p:cNvSpPr/>
          <p:nvPr/>
        </p:nvSpPr>
        <p:spPr>
          <a:xfrm>
            <a:off x="548640" y="2377440"/>
            <a:ext cx="3520440" cy="3611880"/>
          </a:xfrm>
          <a:prstGeom prst="roundRect">
            <a:avLst>
              <a:gd name="adj" fmla="val 2078"/>
            </a:avLst>
          </a:prstGeom>
          <a:solidFill>
            <a:schemeClr val="bg2"/>
          </a:solidFill>
          <a:ln w="12700">
            <a:solidFill>
              <a:schemeClr val="bg2"/>
            </a:solidFill>
            <a:prstDash val="solid"/>
          </a:ln>
        </p:spPr>
      </p:sp>
      <p:sp>
        <p:nvSpPr>
          <p:cNvPr id="6" name="icon-circle"/>
          <p:cNvSpPr/>
          <p:nvPr/>
        </p:nvSpPr>
        <p:spPr>
          <a:xfrm>
            <a:off x="777240" y="2606040"/>
            <a:ext cx="640080" cy="640080"/>
          </a:xfrm>
          <a:prstGeom prst="ellipse">
            <a:avLst/>
          </a:prstGeom>
          <a:solidFill>
            <a:schemeClr val="accent1"/>
          </a:solidFill>
          <a:ln w="12700">
            <a:solidFill>
              <a:schemeClr val="accent1"/>
            </a:solidFill>
            <a:prstDash val="solid"/>
          </a:ln>
        </p:spPr>
      </p:sp>
      <p:pic>
        <p:nvPicPr>
          <p:cNvPr id="7" name="icon-FaRobot" descr="preencoded.png"/>
          <p:cNvPicPr>
            <a:picLocks noChangeAspect="1"/>
          </p:cNvPicPr>
          <p:nvPr/>
        </p:nvPicPr>
        <p:blipFill>
          <a:blip r:embed="rId3"/>
          <a:stretch>
            <a:fillRect/>
          </a:stretch>
        </p:blipFill>
        <p:spPr>
          <a:xfrm>
            <a:off x="930859" y="2759659"/>
            <a:ext cx="332842" cy="332842"/>
          </a:xfrm>
          <a:prstGeom prst="rect">
            <a:avLst/>
          </a:prstGeom>
        </p:spPr>
      </p:pic>
      <p:sp>
        <p:nvSpPr>
          <p:cNvPr id="8" name="Text 5"/>
          <p:cNvSpPr txBox="1"/>
          <p:nvPr/>
        </p:nvSpPr>
        <p:spPr>
          <a:xfrm>
            <a:off x="1554480" y="2697480"/>
            <a:ext cx="2377440" cy="45720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AI reads and compares</a:t>
            </a:r>
            <a:endParaRPr lang="en-US" sz="1800" dirty="0"/>
          </a:p>
        </p:txBody>
      </p:sp>
      <p:sp>
        <p:nvSpPr>
          <p:cNvPr id="9" name="Text 6"/>
          <p:cNvSpPr txBox="1"/>
          <p:nvPr/>
        </p:nvSpPr>
        <p:spPr>
          <a:xfrm>
            <a:off x="822960" y="3429000"/>
            <a:ext cx="306324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Reads every clause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Extracts promises from signed contracts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Compares with your positions and incidents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Finds conflicts with past promises</a:t>
            </a:r>
            <a:endParaRPr lang="en-US" sz="1500" dirty="0"/>
          </a:p>
        </p:txBody>
      </p:sp>
      <p:sp>
        <p:nvSpPr>
          <p:cNvPr id="10" name="col-1"/>
          <p:cNvSpPr/>
          <p:nvPr/>
        </p:nvSpPr>
        <p:spPr>
          <a:xfrm>
            <a:off x="4297680" y="2377440"/>
            <a:ext cx="3520440" cy="3611880"/>
          </a:xfrm>
          <a:prstGeom prst="roundRect">
            <a:avLst>
              <a:gd name="adj" fmla="val 2078"/>
            </a:avLst>
          </a:prstGeom>
          <a:solidFill>
            <a:schemeClr val="bg2"/>
          </a:solidFill>
          <a:ln w="12700">
            <a:solidFill>
              <a:schemeClr val="bg2"/>
            </a:solidFill>
            <a:prstDash val="solid"/>
          </a:ln>
        </p:spPr>
      </p:sp>
      <p:sp>
        <p:nvSpPr>
          <p:cNvPr id="11" name="icon-circle"/>
          <p:cNvSpPr/>
          <p:nvPr/>
        </p:nvSpPr>
        <p:spPr>
          <a:xfrm>
            <a:off x="4526280" y="2606040"/>
            <a:ext cx="640080" cy="640080"/>
          </a:xfrm>
          <a:prstGeom prst="ellipse">
            <a:avLst/>
          </a:prstGeom>
          <a:solidFill>
            <a:schemeClr val="tx2"/>
          </a:solidFill>
          <a:ln w="12700">
            <a:solidFill>
              <a:schemeClr val="tx2"/>
            </a:solidFill>
            <a:prstDash val="solid"/>
          </a:ln>
        </p:spPr>
      </p:sp>
      <p:pic>
        <p:nvPicPr>
          <p:cNvPr id="12" name="icon-FaCogs" descr="preencoded.png"/>
          <p:cNvPicPr>
            <a:picLocks noChangeAspect="1"/>
          </p:cNvPicPr>
          <p:nvPr/>
        </p:nvPicPr>
        <p:blipFill>
          <a:blip r:embed="rId4"/>
          <a:stretch>
            <a:fillRect/>
          </a:stretch>
        </p:blipFill>
        <p:spPr>
          <a:xfrm>
            <a:off x="4679899" y="2759659"/>
            <a:ext cx="332842" cy="332842"/>
          </a:xfrm>
          <a:prstGeom prst="rect">
            <a:avLst/>
          </a:prstGeom>
        </p:spPr>
      </p:pic>
      <p:sp>
        <p:nvSpPr>
          <p:cNvPr id="13" name="Text 9"/>
          <p:cNvSpPr txBox="1"/>
          <p:nvPr/>
        </p:nvSpPr>
        <p:spPr>
          <a:xfrm>
            <a:off x="5303520" y="2697480"/>
            <a:ext cx="2377440" cy="45720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Fixed rules check</a:t>
            </a:r>
            <a:endParaRPr lang="en-US" sz="1800" dirty="0"/>
          </a:p>
        </p:txBody>
      </p:sp>
      <p:sp>
        <p:nvSpPr>
          <p:cNvPr id="14" name="Text 10"/>
          <p:cNvSpPr txBox="1"/>
          <p:nvPr/>
        </p:nvSpPr>
        <p:spPr>
          <a:xfrm>
            <a:off x="4572000" y="3429000"/>
            <a:ext cx="306324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Right AtliQ entity, law and invoicing</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BAA, DPA and insurance before data moves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Liability above 1x the deal value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Regulations by country (confirm with counsel)</a:t>
            </a:r>
            <a:endParaRPr lang="en-US" sz="1500" dirty="0"/>
          </a:p>
        </p:txBody>
      </p:sp>
      <p:sp>
        <p:nvSpPr>
          <p:cNvPr id="15" name="col-2"/>
          <p:cNvSpPr/>
          <p:nvPr/>
        </p:nvSpPr>
        <p:spPr>
          <a:xfrm>
            <a:off x="8046720" y="2377440"/>
            <a:ext cx="3520440" cy="3611880"/>
          </a:xfrm>
          <a:prstGeom prst="roundRect">
            <a:avLst>
              <a:gd name="adj" fmla="val 2078"/>
            </a:avLst>
          </a:prstGeom>
          <a:solidFill>
            <a:schemeClr val="bg2"/>
          </a:solidFill>
          <a:ln w="12700">
            <a:solidFill>
              <a:schemeClr val="bg2"/>
            </a:solidFill>
            <a:prstDash val="solid"/>
          </a:ln>
        </p:spPr>
      </p:sp>
      <p:sp>
        <p:nvSpPr>
          <p:cNvPr id="16" name="icon-circle"/>
          <p:cNvSpPr/>
          <p:nvPr/>
        </p:nvSpPr>
        <p:spPr>
          <a:xfrm>
            <a:off x="8275320" y="2606040"/>
            <a:ext cx="640080" cy="640080"/>
          </a:xfrm>
          <a:prstGeom prst="ellipse">
            <a:avLst/>
          </a:prstGeom>
          <a:solidFill>
            <a:schemeClr val="accent3"/>
          </a:solidFill>
          <a:ln w="12700">
            <a:solidFill>
              <a:schemeClr val="accent3"/>
            </a:solidFill>
            <a:prstDash val="solid"/>
          </a:ln>
        </p:spPr>
      </p:sp>
      <p:pic>
        <p:nvPicPr>
          <p:cNvPr id="17" name="icon-FaUserTie" descr="preencoded.png"/>
          <p:cNvPicPr>
            <a:picLocks noChangeAspect="1"/>
          </p:cNvPicPr>
          <p:nvPr/>
        </p:nvPicPr>
        <p:blipFill>
          <a:blip r:embed="rId5"/>
          <a:stretch>
            <a:fillRect/>
          </a:stretch>
        </p:blipFill>
        <p:spPr>
          <a:xfrm>
            <a:off x="8428939" y="2759659"/>
            <a:ext cx="332842" cy="332842"/>
          </a:xfrm>
          <a:prstGeom prst="rect">
            <a:avLst/>
          </a:prstGeom>
        </p:spPr>
      </p:pic>
      <p:sp>
        <p:nvSpPr>
          <p:cNvPr id="18" name="Text 13"/>
          <p:cNvSpPr txBox="1"/>
          <p:nvPr/>
        </p:nvSpPr>
        <p:spPr>
          <a:xfrm>
            <a:off x="9052560" y="2697480"/>
            <a:ext cx="2377440" cy="457200"/>
          </a:xfrm>
          <a:prstGeom prst="rect">
            <a:avLst/>
          </a:prstGeom>
          <a:noFill/>
          <a:ln/>
        </p:spPr>
        <p:txBody>
          <a:bodyPr wrap="square" lIns="0" tIns="0" rIns="0" bIns="0" rtlCol="0" anchor="t"/>
          <a:lstStyle/>
          <a:p>
            <a:pPr marL="0" indent="0">
              <a:buNone/>
            </a:pPr>
            <a:r>
              <a:rPr lang="en-US" sz="1800" b="1" dirty="0">
                <a:solidFill>
                  <a:schemeClr val="tx2"/>
                </a:solidFill>
                <a:latin typeface="Calibri" pitchFamily="34" charset="0"/>
                <a:ea typeface="Calibri" pitchFamily="34" charset="-122"/>
                <a:cs typeface="Calibri" pitchFamily="34" charset="-120"/>
              </a:rPr>
              <a:t>Only you, never AI</a:t>
            </a:r>
            <a:endParaRPr lang="en-US" sz="1800" dirty="0"/>
          </a:p>
        </p:txBody>
      </p:sp>
      <p:sp>
        <p:nvSpPr>
          <p:cNvPr id="19" name="Text 14"/>
          <p:cNvSpPr txBox="1"/>
          <p:nvPr/>
        </p:nvSpPr>
        <p:spPr>
          <a:xfrm>
            <a:off x="8321040" y="3429000"/>
            <a:ext cx="306324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Sign or approve a contract</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Send anything to a client</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Decide a restriction has ended</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Give legal advice</a:t>
            </a:r>
            <a:endParaRPr lang="en-US" sz="1500" dirty="0"/>
          </a:p>
        </p:txBody>
      </p:sp>
      <p:sp>
        <p:nvSpPr>
          <p:cNvPr id="25"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329184"/>
          </a:xfrm>
          <a:prstGeom prst="rect">
            <a:avLst/>
          </a:prstGeom>
          <a:noFill/>
          <a:ln/>
        </p:spPr>
        <p:txBody>
          <a:bodyPr wrap="square" lIns="0" tIns="0" rIns="0" bIns="0" rtlCol="0"/>
          <a:lstStyle/>
          <a:p>
            <a:pPr marL="0" indent="0">
              <a:buNone/>
            </a:pPr>
            <a:r>
              <a:rPr lang="en-US" sz="1200" b="1" dirty="0">
                <a:solidFill>
                  <a:schemeClr val="accent1"/>
                </a:solidFill>
                <a:latin typeface="Calibri" pitchFamily="34" charset="0"/>
                <a:ea typeface="Calibri" pitchFamily="34" charset="-122"/>
                <a:cs typeface="Calibri" pitchFamily="34" charset="-120"/>
              </a:rPr>
              <a:t>THE SOLUTION</a:t>
            </a:r>
            <a:endParaRPr lang="en-US" sz="1200" dirty="0"/>
          </a:p>
        </p:txBody>
      </p:sp>
      <p:sp>
        <p:nvSpPr>
          <p:cNvPr id="3" name="Text 0"/>
          <p:cNvSpPr>
            <a:spLocks noGrp="1"/>
          </p:cNvSpPr>
          <p:nvPr>
            <p:ph type="title" idx="101" hasCustomPrompt="1"/>
          </p:nvPr>
        </p:nvSpPr>
        <p:spPr>
          <a:xfrm>
            <a:off x="548640" y="603504"/>
            <a:ext cx="11064240" cy="868680"/>
          </a:xfrm>
          <a:prstGeom prst="rect">
            <a:avLst/>
          </a:prstGeom>
          <a:noFill/>
          <a:ln/>
        </p:spPr>
        <p:txBody>
          <a:bodyPr wrap="square" lIns="0" tIns="0" rIns="0" bIns="0" rtlCol="0" anchor="t"/>
          <a:lstStyle/>
          <a:p>
            <a:pPr marL="0" indent="0" algn="l">
              <a:buNone/>
            </a:pPr>
            <a:r>
              <a:rPr lang="en-US" sz="3000" b="1" dirty="0">
                <a:solidFill>
                  <a:schemeClr val="tx2"/>
                </a:solidFill>
                <a:latin typeface="Cambria" pitchFamily="34" charset="0"/>
                <a:ea typeface="Cambria" pitchFamily="34" charset="-122"/>
                <a:cs typeface="Cambria" pitchFamily="34" charset="-120"/>
              </a:rPr>
              <a:t>How ACA turns a 4-hour read into a 1-minute brief</a:t>
            </a:r>
            <a:endParaRPr lang="en-US" sz="3000" dirty="0"/>
          </a:p>
        </p:txBody>
      </p:sp>
      <p:sp>
        <p:nvSpPr>
          <p:cNvPr id="4" name="step-0"/>
          <p:cNvSpPr/>
          <p:nvPr/>
        </p:nvSpPr>
        <p:spPr>
          <a:xfrm>
            <a:off x="548640" y="1874520"/>
            <a:ext cx="1700784" cy="2606040"/>
          </a:xfrm>
          <a:prstGeom prst="roundRect">
            <a:avLst>
              <a:gd name="adj" fmla="val 4301"/>
            </a:avLst>
          </a:prstGeom>
          <a:solidFill>
            <a:schemeClr val="accent6"/>
          </a:solidFill>
          <a:ln w="12700">
            <a:solidFill>
              <a:schemeClr val="accent6"/>
            </a:solidFill>
            <a:prstDash val="solid"/>
          </a:ln>
        </p:spPr>
      </p:sp>
      <p:sp>
        <p:nvSpPr>
          <p:cNvPr id="5" name="icon-circle"/>
          <p:cNvSpPr/>
          <p:nvPr/>
        </p:nvSpPr>
        <p:spPr>
          <a:xfrm>
            <a:off x="1051560" y="2103120"/>
            <a:ext cx="685800" cy="685800"/>
          </a:xfrm>
          <a:prstGeom prst="ellipse">
            <a:avLst/>
          </a:prstGeom>
          <a:solidFill>
            <a:schemeClr val="accent1"/>
          </a:solidFill>
          <a:ln w="12700">
            <a:solidFill>
              <a:schemeClr val="accent1"/>
            </a:solidFill>
            <a:prstDash val="solid"/>
          </a:ln>
        </p:spPr>
      </p:sp>
      <p:pic>
        <p:nvPicPr>
          <p:cNvPr id="6" name="icon-FaInbox" descr="preencoded.png"/>
          <p:cNvPicPr>
            <a:picLocks noChangeAspect="1"/>
          </p:cNvPicPr>
          <p:nvPr/>
        </p:nvPicPr>
        <p:blipFill>
          <a:blip r:embed="rId3"/>
          <a:stretch>
            <a:fillRect/>
          </a:stretch>
        </p:blipFill>
        <p:spPr>
          <a:xfrm>
            <a:off x="1216152" y="2267712"/>
            <a:ext cx="356616" cy="356616"/>
          </a:xfrm>
          <a:prstGeom prst="rect">
            <a:avLst/>
          </a:prstGeom>
        </p:spPr>
      </p:pic>
      <p:sp>
        <p:nvSpPr>
          <p:cNvPr id="7" name="Text 4"/>
          <p:cNvSpPr txBox="1"/>
          <p:nvPr/>
        </p:nvSpPr>
        <p:spPr>
          <a:xfrm>
            <a:off x="685800" y="2926080"/>
            <a:ext cx="1426464" cy="548640"/>
          </a:xfrm>
          <a:prstGeom prst="rect">
            <a:avLst/>
          </a:prstGeom>
          <a:noFill/>
          <a:ln/>
        </p:spPr>
        <p:txBody>
          <a:bodyPr wrap="square" lIns="0" tIns="0" rIns="0" bIns="0" rtlCol="0" anchor="t"/>
          <a:lstStyle/>
          <a:p>
            <a:pPr marL="0" indent="0" algn="ctr">
              <a:buNone/>
            </a:pPr>
            <a:r>
              <a:rPr lang="en-US" sz="1500" b="1" dirty="0">
                <a:solidFill>
                  <a:schemeClr val="tx2"/>
                </a:solidFill>
                <a:latin typeface="Calibri" pitchFamily="34" charset="0"/>
                <a:ea typeface="Calibri" pitchFamily="34" charset="-122"/>
                <a:cs typeface="Calibri" pitchFamily="34" charset="-120"/>
              </a:rPr>
              <a:t>Contract arrives</a:t>
            </a:r>
            <a:endParaRPr lang="en-US" sz="1500" dirty="0"/>
          </a:p>
        </p:txBody>
      </p:sp>
      <p:sp>
        <p:nvSpPr>
          <p:cNvPr id="8" name="Text 5"/>
          <p:cNvSpPr txBox="1"/>
          <p:nvPr/>
        </p:nvSpPr>
        <p:spPr>
          <a:xfrm>
            <a:off x="685800" y="3474720"/>
            <a:ext cx="1426464" cy="914400"/>
          </a:xfrm>
          <a:prstGeom prst="rect">
            <a:avLst/>
          </a:prstGeom>
          <a:noFill/>
          <a:ln/>
        </p:spPr>
        <p:txBody>
          <a:bodyPr wrap="square" lIns="0" tIns="0" rIns="0" bIns="0" rtlCol="0" anchor="t"/>
          <a:lstStyle/>
          <a:p>
            <a:pPr marL="0" indent="0" algn="ctr">
              <a:buNone/>
            </a:pPr>
            <a:r>
              <a:rPr lang="en-US" sz="1200" dirty="0">
                <a:solidFill>
                  <a:schemeClr val="tx1"/>
                </a:solidFill>
                <a:latin typeface="Calibri" pitchFamily="34" charset="0"/>
                <a:ea typeface="Calibri" pitchFamily="34" charset="-122"/>
                <a:cs typeface="Calibri" pitchFamily="34" charset="-120"/>
              </a:rPr>
              <a:t>Upload or forwarded email</a:t>
            </a:r>
            <a:endParaRPr lang="en-US" sz="1200" dirty="0"/>
          </a:p>
        </p:txBody>
      </p:sp>
      <p:sp>
        <p:nvSpPr>
          <p:cNvPr id="9" name="step-1"/>
          <p:cNvSpPr/>
          <p:nvPr/>
        </p:nvSpPr>
        <p:spPr>
          <a:xfrm>
            <a:off x="2432304" y="1874520"/>
            <a:ext cx="1700784" cy="2606040"/>
          </a:xfrm>
          <a:prstGeom prst="roundRect">
            <a:avLst>
              <a:gd name="adj" fmla="val 4301"/>
            </a:avLst>
          </a:prstGeom>
          <a:solidFill>
            <a:schemeClr val="accent6"/>
          </a:solidFill>
          <a:ln w="12700">
            <a:solidFill>
              <a:schemeClr val="accent6"/>
            </a:solidFill>
            <a:prstDash val="solid"/>
          </a:ln>
        </p:spPr>
      </p:sp>
      <p:sp>
        <p:nvSpPr>
          <p:cNvPr id="10" name="icon-circle"/>
          <p:cNvSpPr/>
          <p:nvPr/>
        </p:nvSpPr>
        <p:spPr>
          <a:xfrm>
            <a:off x="2935224" y="2103120"/>
            <a:ext cx="685800" cy="685800"/>
          </a:xfrm>
          <a:prstGeom prst="ellipse">
            <a:avLst/>
          </a:prstGeom>
          <a:solidFill>
            <a:schemeClr val="accent1"/>
          </a:solidFill>
          <a:ln w="12700">
            <a:solidFill>
              <a:schemeClr val="accent1"/>
            </a:solidFill>
            <a:prstDash val="solid"/>
          </a:ln>
        </p:spPr>
      </p:sp>
      <p:pic>
        <p:nvPicPr>
          <p:cNvPr id="11" name="icon-FaUserSecret" descr="preencoded.png"/>
          <p:cNvPicPr>
            <a:picLocks noChangeAspect="1"/>
          </p:cNvPicPr>
          <p:nvPr/>
        </p:nvPicPr>
        <p:blipFill>
          <a:blip r:embed="rId4"/>
          <a:stretch>
            <a:fillRect/>
          </a:stretch>
        </p:blipFill>
        <p:spPr>
          <a:xfrm>
            <a:off x="3099816" y="2267712"/>
            <a:ext cx="356616" cy="356616"/>
          </a:xfrm>
          <a:prstGeom prst="rect">
            <a:avLst/>
          </a:prstGeom>
        </p:spPr>
      </p:pic>
      <p:sp>
        <p:nvSpPr>
          <p:cNvPr id="12" name="Text 8"/>
          <p:cNvSpPr txBox="1"/>
          <p:nvPr/>
        </p:nvSpPr>
        <p:spPr>
          <a:xfrm>
            <a:off x="2569464" y="2926080"/>
            <a:ext cx="1426464" cy="548640"/>
          </a:xfrm>
          <a:prstGeom prst="rect">
            <a:avLst/>
          </a:prstGeom>
          <a:noFill/>
          <a:ln/>
        </p:spPr>
        <p:txBody>
          <a:bodyPr wrap="square" lIns="0" tIns="0" rIns="0" bIns="0" rtlCol="0" anchor="t"/>
          <a:lstStyle/>
          <a:p>
            <a:pPr marL="0" indent="0" algn="ctr">
              <a:buNone/>
            </a:pPr>
            <a:r>
              <a:rPr lang="en-US" sz="1500" b="1" dirty="0">
                <a:solidFill>
                  <a:schemeClr val="tx2"/>
                </a:solidFill>
                <a:latin typeface="Calibri" pitchFamily="34" charset="0"/>
                <a:ea typeface="Calibri" pitchFamily="34" charset="-122"/>
                <a:cs typeface="Calibri" pitchFamily="34" charset="-120"/>
              </a:rPr>
              <a:t>Privacy gate</a:t>
            </a:r>
            <a:endParaRPr lang="en-US" sz="1500" dirty="0"/>
          </a:p>
        </p:txBody>
      </p:sp>
      <p:sp>
        <p:nvSpPr>
          <p:cNvPr id="13" name="Text 9"/>
          <p:cNvSpPr txBox="1"/>
          <p:nvPr/>
        </p:nvSpPr>
        <p:spPr>
          <a:xfrm>
            <a:off x="2569464" y="3474720"/>
            <a:ext cx="1426464" cy="914400"/>
          </a:xfrm>
          <a:prstGeom prst="rect">
            <a:avLst/>
          </a:prstGeom>
          <a:noFill/>
          <a:ln/>
        </p:spPr>
        <p:txBody>
          <a:bodyPr wrap="square" lIns="0" tIns="0" rIns="0" bIns="0" rtlCol="0" anchor="t"/>
          <a:lstStyle/>
          <a:p>
            <a:pPr marL="0" indent="0" algn="ctr">
              <a:buNone/>
            </a:pPr>
            <a:r>
              <a:rPr lang="en-US" sz="1200" dirty="0">
                <a:solidFill>
                  <a:schemeClr val="tx1"/>
                </a:solidFill>
                <a:latin typeface="Calibri" pitchFamily="34" charset="0"/>
                <a:ea typeface="Calibri" pitchFamily="34" charset="-122"/>
                <a:cs typeface="Calibri" pitchFamily="34" charset="-120"/>
              </a:rPr>
              <a:t>IDs and bank details masked; patient records removed before the AI reads it</a:t>
            </a:r>
            <a:endParaRPr lang="en-US" sz="1200" dirty="0"/>
          </a:p>
        </p:txBody>
      </p:sp>
      <p:sp>
        <p:nvSpPr>
          <p:cNvPr id="14" name="step-2"/>
          <p:cNvSpPr/>
          <p:nvPr/>
        </p:nvSpPr>
        <p:spPr>
          <a:xfrm>
            <a:off x="4315968" y="1874520"/>
            <a:ext cx="1700784" cy="2606040"/>
          </a:xfrm>
          <a:prstGeom prst="roundRect">
            <a:avLst>
              <a:gd name="adj" fmla="val 4301"/>
            </a:avLst>
          </a:prstGeom>
          <a:solidFill>
            <a:schemeClr val="accent6"/>
          </a:solidFill>
          <a:ln w="12700">
            <a:solidFill>
              <a:schemeClr val="accent6"/>
            </a:solidFill>
            <a:prstDash val="solid"/>
          </a:ln>
        </p:spPr>
      </p:sp>
      <p:sp>
        <p:nvSpPr>
          <p:cNvPr id="15" name="icon-circle"/>
          <p:cNvSpPr/>
          <p:nvPr/>
        </p:nvSpPr>
        <p:spPr>
          <a:xfrm>
            <a:off x="4818888" y="2103120"/>
            <a:ext cx="685800" cy="685800"/>
          </a:xfrm>
          <a:prstGeom prst="ellipse">
            <a:avLst/>
          </a:prstGeom>
          <a:solidFill>
            <a:schemeClr val="accent1"/>
          </a:solidFill>
          <a:ln w="12700">
            <a:solidFill>
              <a:schemeClr val="accent1"/>
            </a:solidFill>
            <a:prstDash val="solid"/>
          </a:ln>
        </p:spPr>
      </p:sp>
      <p:pic>
        <p:nvPicPr>
          <p:cNvPr id="16" name="icon-FaLayerGroup" descr="preencoded.png"/>
          <p:cNvPicPr>
            <a:picLocks noChangeAspect="1"/>
          </p:cNvPicPr>
          <p:nvPr/>
        </p:nvPicPr>
        <p:blipFill>
          <a:blip r:embed="rId5"/>
          <a:stretch>
            <a:fillRect/>
          </a:stretch>
        </p:blipFill>
        <p:spPr>
          <a:xfrm>
            <a:off x="4983480" y="2267712"/>
            <a:ext cx="356616" cy="356616"/>
          </a:xfrm>
          <a:prstGeom prst="rect">
            <a:avLst/>
          </a:prstGeom>
        </p:spPr>
      </p:pic>
      <p:sp>
        <p:nvSpPr>
          <p:cNvPr id="17" name="Text 12"/>
          <p:cNvSpPr txBox="1"/>
          <p:nvPr/>
        </p:nvSpPr>
        <p:spPr>
          <a:xfrm>
            <a:off x="4453128" y="2926080"/>
            <a:ext cx="1426464" cy="548640"/>
          </a:xfrm>
          <a:prstGeom prst="rect">
            <a:avLst/>
          </a:prstGeom>
          <a:noFill/>
          <a:ln/>
        </p:spPr>
        <p:txBody>
          <a:bodyPr wrap="square" lIns="0" tIns="0" rIns="0" bIns="0" rtlCol="0" anchor="t"/>
          <a:lstStyle/>
          <a:p>
            <a:pPr marL="0" indent="0" algn="ctr">
              <a:buNone/>
            </a:pPr>
            <a:r>
              <a:rPr lang="en-US" sz="1500" b="1" dirty="0">
                <a:solidFill>
                  <a:schemeClr val="tx2"/>
                </a:solidFill>
                <a:latin typeface="Calibri" pitchFamily="34" charset="0"/>
                <a:ea typeface="Calibri" pitchFamily="34" charset="-122"/>
                <a:cs typeface="Calibri" pitchFamily="34" charset="-120"/>
              </a:rPr>
              <a:t>4 checks at once</a:t>
            </a:r>
            <a:endParaRPr lang="en-US" sz="1500" dirty="0"/>
          </a:p>
        </p:txBody>
      </p:sp>
      <p:sp>
        <p:nvSpPr>
          <p:cNvPr id="18" name="Text 13"/>
          <p:cNvSpPr txBox="1"/>
          <p:nvPr/>
        </p:nvSpPr>
        <p:spPr>
          <a:xfrm>
            <a:off x="4453128" y="3474720"/>
            <a:ext cx="1426464" cy="914400"/>
          </a:xfrm>
          <a:prstGeom prst="rect">
            <a:avLst/>
          </a:prstGeom>
          <a:noFill/>
          <a:ln/>
        </p:spPr>
        <p:txBody>
          <a:bodyPr wrap="square" lIns="0" tIns="0" rIns="0" bIns="0" rtlCol="0" anchor="t"/>
          <a:lstStyle/>
          <a:p>
            <a:pPr marL="0" indent="0" algn="ctr">
              <a:buNone/>
            </a:pPr>
            <a:r>
              <a:rPr lang="en-US" sz="1200" dirty="0">
                <a:solidFill>
                  <a:schemeClr val="tx1"/>
                </a:solidFill>
                <a:latin typeface="Calibri" pitchFamily="34" charset="0"/>
                <a:ea typeface="Calibri" pitchFamily="34" charset="-122"/>
                <a:cs typeface="Calibri" pitchFamily="34" charset="-120"/>
              </a:rPr>
              <a:t>Key terms · your positions · past promises · fairness</a:t>
            </a:r>
            <a:endParaRPr lang="en-US" sz="1200" dirty="0"/>
          </a:p>
        </p:txBody>
      </p:sp>
      <p:sp>
        <p:nvSpPr>
          <p:cNvPr id="19" name="step-3"/>
          <p:cNvSpPr/>
          <p:nvPr/>
        </p:nvSpPr>
        <p:spPr>
          <a:xfrm>
            <a:off x="6199632" y="1874520"/>
            <a:ext cx="1700784" cy="2606040"/>
          </a:xfrm>
          <a:prstGeom prst="roundRect">
            <a:avLst>
              <a:gd name="adj" fmla="val 4301"/>
            </a:avLst>
          </a:prstGeom>
          <a:solidFill>
            <a:schemeClr val="accent6"/>
          </a:solidFill>
          <a:ln w="12700">
            <a:solidFill>
              <a:schemeClr val="accent6"/>
            </a:solidFill>
            <a:prstDash val="solid"/>
          </a:ln>
        </p:spPr>
      </p:sp>
      <p:sp>
        <p:nvSpPr>
          <p:cNvPr id="20" name="icon-circle"/>
          <p:cNvSpPr/>
          <p:nvPr/>
        </p:nvSpPr>
        <p:spPr>
          <a:xfrm>
            <a:off x="6702552" y="2103120"/>
            <a:ext cx="685800" cy="685800"/>
          </a:xfrm>
          <a:prstGeom prst="ellipse">
            <a:avLst/>
          </a:prstGeom>
          <a:solidFill>
            <a:schemeClr val="accent1"/>
          </a:solidFill>
          <a:ln w="12700">
            <a:solidFill>
              <a:schemeClr val="accent1"/>
            </a:solidFill>
            <a:prstDash val="solid"/>
          </a:ln>
        </p:spPr>
      </p:sp>
      <p:pic>
        <p:nvPicPr>
          <p:cNvPr id="21" name="icon-FaCogs" descr="preencoded.png"/>
          <p:cNvPicPr>
            <a:picLocks noChangeAspect="1"/>
          </p:cNvPicPr>
          <p:nvPr/>
        </p:nvPicPr>
        <p:blipFill>
          <a:blip r:embed="rId6"/>
          <a:stretch>
            <a:fillRect/>
          </a:stretch>
        </p:blipFill>
        <p:spPr>
          <a:xfrm>
            <a:off x="6867144" y="2267712"/>
            <a:ext cx="356616" cy="356616"/>
          </a:xfrm>
          <a:prstGeom prst="rect">
            <a:avLst/>
          </a:prstGeom>
        </p:spPr>
      </p:pic>
      <p:sp>
        <p:nvSpPr>
          <p:cNvPr id="22" name="Text 16"/>
          <p:cNvSpPr txBox="1"/>
          <p:nvPr/>
        </p:nvSpPr>
        <p:spPr>
          <a:xfrm>
            <a:off x="6336792" y="2926080"/>
            <a:ext cx="1426464" cy="548640"/>
          </a:xfrm>
          <a:prstGeom prst="rect">
            <a:avLst/>
          </a:prstGeom>
          <a:noFill/>
          <a:ln/>
        </p:spPr>
        <p:txBody>
          <a:bodyPr wrap="square" lIns="0" tIns="0" rIns="0" bIns="0" rtlCol="0" anchor="t"/>
          <a:lstStyle/>
          <a:p>
            <a:pPr marL="0" indent="0" algn="ctr">
              <a:buNone/>
            </a:pPr>
            <a:r>
              <a:rPr lang="en-US" sz="1500" b="1" dirty="0">
                <a:solidFill>
                  <a:schemeClr val="tx2"/>
                </a:solidFill>
                <a:latin typeface="Calibri" pitchFamily="34" charset="0"/>
                <a:ea typeface="Calibri" pitchFamily="34" charset="-122"/>
                <a:cs typeface="Calibri" pitchFamily="34" charset="-120"/>
              </a:rPr>
              <a:t>Fixed rules</a:t>
            </a:r>
            <a:endParaRPr lang="en-US" sz="1500" dirty="0"/>
          </a:p>
        </p:txBody>
      </p:sp>
      <p:sp>
        <p:nvSpPr>
          <p:cNvPr id="23" name="Text 17"/>
          <p:cNvSpPr txBox="1"/>
          <p:nvPr/>
        </p:nvSpPr>
        <p:spPr>
          <a:xfrm>
            <a:off x="6336792" y="3474720"/>
            <a:ext cx="1426464" cy="914400"/>
          </a:xfrm>
          <a:prstGeom prst="rect">
            <a:avLst/>
          </a:prstGeom>
          <a:noFill/>
          <a:ln/>
        </p:spPr>
        <p:txBody>
          <a:bodyPr wrap="square" lIns="0" tIns="0" rIns="0" bIns="0" rtlCol="0" anchor="t"/>
          <a:lstStyle/>
          <a:p>
            <a:pPr marL="0" indent="0" algn="ctr">
              <a:buNone/>
            </a:pPr>
            <a:r>
              <a:rPr lang="en-US" sz="1200" dirty="0">
                <a:solidFill>
                  <a:schemeClr val="tx1"/>
                </a:solidFill>
                <a:latin typeface="Calibri" pitchFamily="34" charset="0"/>
                <a:ea typeface="Calibri" pitchFamily="34" charset="-122"/>
                <a:cs typeface="Calibri" pitchFamily="34" charset="-120"/>
              </a:rPr>
              <a:t>Entity, law, caps, BAA, regulations</a:t>
            </a:r>
            <a:endParaRPr lang="en-US" sz="1200" dirty="0"/>
          </a:p>
        </p:txBody>
      </p:sp>
      <p:sp>
        <p:nvSpPr>
          <p:cNvPr id="24" name="step-4"/>
          <p:cNvSpPr/>
          <p:nvPr/>
        </p:nvSpPr>
        <p:spPr>
          <a:xfrm>
            <a:off x="8083296" y="1874520"/>
            <a:ext cx="1700784" cy="2606040"/>
          </a:xfrm>
          <a:prstGeom prst="roundRect">
            <a:avLst>
              <a:gd name="adj" fmla="val 4301"/>
            </a:avLst>
          </a:prstGeom>
          <a:solidFill>
            <a:schemeClr val="accent6"/>
          </a:solidFill>
          <a:ln w="12700">
            <a:solidFill>
              <a:schemeClr val="accent6"/>
            </a:solidFill>
            <a:prstDash val="solid"/>
          </a:ln>
        </p:spPr>
      </p:sp>
      <p:sp>
        <p:nvSpPr>
          <p:cNvPr id="25" name="icon-circle"/>
          <p:cNvSpPr/>
          <p:nvPr/>
        </p:nvSpPr>
        <p:spPr>
          <a:xfrm>
            <a:off x="8586216" y="2103120"/>
            <a:ext cx="685800" cy="685800"/>
          </a:xfrm>
          <a:prstGeom prst="ellipse">
            <a:avLst/>
          </a:prstGeom>
          <a:solidFill>
            <a:schemeClr val="accent1"/>
          </a:solidFill>
          <a:ln w="12700">
            <a:solidFill>
              <a:schemeClr val="accent1"/>
            </a:solidFill>
            <a:prstDash val="solid"/>
          </a:ln>
        </p:spPr>
      </p:sp>
      <p:pic>
        <p:nvPicPr>
          <p:cNvPr id="26" name="icon-FaQuoteRight" descr="preencoded.png"/>
          <p:cNvPicPr>
            <a:picLocks noChangeAspect="1"/>
          </p:cNvPicPr>
          <p:nvPr/>
        </p:nvPicPr>
        <p:blipFill>
          <a:blip r:embed="rId7"/>
          <a:stretch>
            <a:fillRect/>
          </a:stretch>
        </p:blipFill>
        <p:spPr>
          <a:xfrm>
            <a:off x="8750808" y="2267712"/>
            <a:ext cx="356616" cy="356616"/>
          </a:xfrm>
          <a:prstGeom prst="rect">
            <a:avLst/>
          </a:prstGeom>
        </p:spPr>
      </p:pic>
      <p:sp>
        <p:nvSpPr>
          <p:cNvPr id="27" name="Text 20"/>
          <p:cNvSpPr txBox="1"/>
          <p:nvPr/>
        </p:nvSpPr>
        <p:spPr>
          <a:xfrm>
            <a:off x="8220456" y="2926080"/>
            <a:ext cx="1426464" cy="548640"/>
          </a:xfrm>
          <a:prstGeom prst="rect">
            <a:avLst/>
          </a:prstGeom>
          <a:noFill/>
          <a:ln/>
        </p:spPr>
        <p:txBody>
          <a:bodyPr wrap="square" lIns="0" tIns="0" rIns="0" bIns="0" rtlCol="0" anchor="t"/>
          <a:lstStyle/>
          <a:p>
            <a:pPr marL="0" indent="0" algn="ctr">
              <a:buNone/>
            </a:pPr>
            <a:r>
              <a:rPr lang="en-US" sz="1500" b="1" dirty="0">
                <a:solidFill>
                  <a:schemeClr val="tx2"/>
                </a:solidFill>
                <a:latin typeface="Calibri" pitchFamily="34" charset="0"/>
                <a:ea typeface="Calibri" pitchFamily="34" charset="-122"/>
                <a:cs typeface="Calibri" pitchFamily="34" charset="-120"/>
              </a:rPr>
              <a:t>Citation check</a:t>
            </a:r>
            <a:endParaRPr lang="en-US" sz="1500" dirty="0"/>
          </a:p>
        </p:txBody>
      </p:sp>
      <p:sp>
        <p:nvSpPr>
          <p:cNvPr id="28" name="Text 21"/>
          <p:cNvSpPr txBox="1"/>
          <p:nvPr/>
        </p:nvSpPr>
        <p:spPr>
          <a:xfrm>
            <a:off x="8220456" y="3474720"/>
            <a:ext cx="1426464" cy="914400"/>
          </a:xfrm>
          <a:prstGeom prst="rect">
            <a:avLst/>
          </a:prstGeom>
          <a:noFill/>
          <a:ln/>
        </p:spPr>
        <p:txBody>
          <a:bodyPr wrap="square" lIns="0" tIns="0" rIns="0" bIns="0" rtlCol="0" anchor="t"/>
          <a:lstStyle/>
          <a:p>
            <a:pPr marL="0" indent="0" algn="ctr">
              <a:buNone/>
            </a:pPr>
            <a:r>
              <a:rPr lang="en-US" sz="1200" dirty="0">
                <a:solidFill>
                  <a:schemeClr val="tx1"/>
                </a:solidFill>
                <a:latin typeface="Calibri" pitchFamily="34" charset="0"/>
                <a:ea typeface="Calibri" pitchFamily="34" charset="-122"/>
                <a:cs typeface="Calibri" pitchFamily="34" charset="-120"/>
              </a:rPr>
              <a:t>No source, no flag</a:t>
            </a:r>
            <a:endParaRPr lang="en-US" sz="1200" dirty="0"/>
          </a:p>
        </p:txBody>
      </p:sp>
      <p:sp>
        <p:nvSpPr>
          <p:cNvPr id="29" name="step-5"/>
          <p:cNvSpPr/>
          <p:nvPr/>
        </p:nvSpPr>
        <p:spPr>
          <a:xfrm>
            <a:off x="9966960" y="1874520"/>
            <a:ext cx="1700784" cy="2606040"/>
          </a:xfrm>
          <a:prstGeom prst="roundRect">
            <a:avLst>
              <a:gd name="adj" fmla="val 4301"/>
            </a:avLst>
          </a:prstGeom>
          <a:solidFill>
            <a:schemeClr val="tx2"/>
          </a:solidFill>
          <a:ln w="12700">
            <a:solidFill>
              <a:schemeClr val="tx2"/>
            </a:solidFill>
            <a:prstDash val="solid"/>
          </a:ln>
        </p:spPr>
      </p:sp>
      <p:sp>
        <p:nvSpPr>
          <p:cNvPr id="30" name="icon-circle"/>
          <p:cNvSpPr/>
          <p:nvPr/>
        </p:nvSpPr>
        <p:spPr>
          <a:xfrm>
            <a:off x="10469880" y="2103120"/>
            <a:ext cx="685800" cy="685800"/>
          </a:xfrm>
          <a:prstGeom prst="ellipse">
            <a:avLst/>
          </a:prstGeom>
          <a:solidFill>
            <a:schemeClr val="accent2"/>
          </a:solidFill>
          <a:ln w="12700">
            <a:solidFill>
              <a:schemeClr val="accent2"/>
            </a:solidFill>
            <a:prstDash val="solid"/>
          </a:ln>
        </p:spPr>
      </p:sp>
      <p:pic>
        <p:nvPicPr>
          <p:cNvPr id="31" name="icon-FaUserCheck" descr="preencoded.png"/>
          <p:cNvPicPr>
            <a:picLocks noChangeAspect="1"/>
          </p:cNvPicPr>
          <p:nvPr/>
        </p:nvPicPr>
        <p:blipFill>
          <a:blip r:embed="rId8"/>
          <a:stretch>
            <a:fillRect/>
          </a:stretch>
        </p:blipFill>
        <p:spPr>
          <a:xfrm>
            <a:off x="10634472" y="2267712"/>
            <a:ext cx="356616" cy="356616"/>
          </a:xfrm>
          <a:prstGeom prst="rect">
            <a:avLst/>
          </a:prstGeom>
        </p:spPr>
      </p:pic>
      <p:sp>
        <p:nvSpPr>
          <p:cNvPr id="32" name="Text 24"/>
          <p:cNvSpPr txBox="1"/>
          <p:nvPr/>
        </p:nvSpPr>
        <p:spPr>
          <a:xfrm>
            <a:off x="10104120" y="2926080"/>
            <a:ext cx="1426464" cy="548640"/>
          </a:xfrm>
          <a:prstGeom prst="rect">
            <a:avLst/>
          </a:prstGeom>
          <a:noFill/>
          <a:ln/>
        </p:spPr>
        <p:txBody>
          <a:bodyPr wrap="square" lIns="0" tIns="0" rIns="0" bIns="0" rtlCol="0" anchor="t"/>
          <a:lstStyle/>
          <a:p>
            <a:pPr marL="0" indent="0" algn="ctr">
              <a:buNone/>
            </a:pPr>
            <a:r>
              <a:rPr lang="en-US" sz="1500" b="1" dirty="0">
                <a:solidFill>
                  <a:schemeClr val="bg1"/>
                </a:solidFill>
                <a:latin typeface="Calibri" pitchFamily="34" charset="0"/>
                <a:ea typeface="Calibri" pitchFamily="34" charset="-122"/>
                <a:cs typeface="Calibri" pitchFamily="34" charset="-120"/>
              </a:rPr>
              <a:t>You decide</a:t>
            </a:r>
            <a:endParaRPr lang="en-US" sz="1500" dirty="0"/>
          </a:p>
        </p:txBody>
      </p:sp>
      <p:sp>
        <p:nvSpPr>
          <p:cNvPr id="33" name="Text 25"/>
          <p:cNvSpPr txBox="1"/>
          <p:nvPr/>
        </p:nvSpPr>
        <p:spPr>
          <a:xfrm>
            <a:off x="10104120" y="3474720"/>
            <a:ext cx="1426464" cy="914400"/>
          </a:xfrm>
          <a:prstGeom prst="rect">
            <a:avLst/>
          </a:prstGeom>
          <a:noFill/>
          <a:ln/>
        </p:spPr>
        <p:txBody>
          <a:bodyPr wrap="square" lIns="0" tIns="0" rIns="0" bIns="0" rtlCol="0" anchor="t"/>
          <a:lstStyle/>
          <a:p>
            <a:pPr marL="0" indent="0" algn="ctr">
              <a:buNone/>
            </a:pPr>
            <a:r>
              <a:rPr lang="en-US" sz="1200" dirty="0">
                <a:solidFill>
                  <a:schemeClr val="accent6"/>
                </a:solidFill>
                <a:latin typeface="Calibri" pitchFamily="34" charset="0"/>
                <a:ea typeface="Calibri" pitchFamily="34" charset="-122"/>
                <a:cs typeface="Calibri" pitchFamily="34" charset="-120"/>
              </a:rPr>
              <a:t>Top 3 risks, ranked; you sign</a:t>
            </a:r>
            <a:endParaRPr lang="en-US" sz="1200" dirty="0"/>
          </a:p>
        </p:txBody>
      </p:sp>
      <p:sp>
        <p:nvSpPr>
          <p:cNvPr id="34" name="register-card"/>
          <p:cNvSpPr/>
          <p:nvPr/>
        </p:nvSpPr>
        <p:spPr>
          <a:xfrm>
            <a:off x="548640" y="4800600"/>
            <a:ext cx="11064240" cy="1234440"/>
          </a:xfrm>
          <a:prstGeom prst="roundRect">
            <a:avLst>
              <a:gd name="adj" fmla="val 5926"/>
            </a:avLst>
          </a:prstGeom>
          <a:solidFill>
            <a:schemeClr val="bg2"/>
          </a:solidFill>
          <a:ln w="12700">
            <a:solidFill>
              <a:schemeClr val="bg2"/>
            </a:solidFill>
            <a:prstDash val="solid"/>
          </a:ln>
        </p:spPr>
      </p:sp>
      <p:sp>
        <p:nvSpPr>
          <p:cNvPr id="35" name="icon-circle"/>
          <p:cNvSpPr/>
          <p:nvPr/>
        </p:nvSpPr>
        <p:spPr>
          <a:xfrm>
            <a:off x="777240" y="5010912"/>
            <a:ext cx="777240" cy="777240"/>
          </a:xfrm>
          <a:prstGeom prst="ellipse">
            <a:avLst/>
          </a:prstGeom>
          <a:solidFill>
            <a:schemeClr val="accent2"/>
          </a:solidFill>
          <a:ln w="12700">
            <a:solidFill>
              <a:schemeClr val="accent2"/>
            </a:solidFill>
            <a:prstDash val="solid"/>
          </a:ln>
        </p:spPr>
      </p:sp>
      <p:pic>
        <p:nvPicPr>
          <p:cNvPr id="36" name="icon-FaBook" descr="preencoded.png"/>
          <p:cNvPicPr>
            <a:picLocks noChangeAspect="1"/>
          </p:cNvPicPr>
          <p:nvPr/>
        </p:nvPicPr>
        <p:blipFill>
          <a:blip r:embed="rId9"/>
          <a:stretch>
            <a:fillRect/>
          </a:stretch>
        </p:blipFill>
        <p:spPr>
          <a:xfrm>
            <a:off x="963778" y="5197450"/>
            <a:ext cx="404165" cy="404165"/>
          </a:xfrm>
          <a:prstGeom prst="rect">
            <a:avLst/>
          </a:prstGeom>
        </p:spPr>
      </p:pic>
      <p:sp>
        <p:nvSpPr>
          <p:cNvPr id="37" name="Text 28"/>
          <p:cNvSpPr txBox="1"/>
          <p:nvPr/>
        </p:nvSpPr>
        <p:spPr>
          <a:xfrm>
            <a:off x="1783080" y="4937760"/>
            <a:ext cx="9601200" cy="36576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The commitments register: AtliQ's memory</a:t>
            </a:r>
            <a:endParaRPr lang="en-US" sz="1700" dirty="0"/>
          </a:p>
        </p:txBody>
      </p:sp>
      <p:sp>
        <p:nvSpPr>
          <p:cNvPr id="38" name="Text 29"/>
          <p:cNvSpPr txBox="1"/>
          <p:nvPr/>
        </p:nvSpPr>
        <p:spPr>
          <a:xfrm>
            <a:off x="1783080" y="5303520"/>
            <a:ext cx="9692640" cy="6858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ACA extracted ~50 promises from the 17 signed contracts: non-competes, exclusivity, pricing promises, IP handed over, no-hire. You confirm each one once; every new draft is checked against them.</a:t>
            </a:r>
            <a:endParaRPr lang="en-US" sz="1400" dirty="0"/>
          </a:p>
        </p:txBody>
      </p:sp>
      <p:sp>
        <p:nvSpPr>
          <p:cNvPr id="39"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329184"/>
          </a:xfrm>
          <a:prstGeom prst="rect">
            <a:avLst/>
          </a:prstGeom>
          <a:noFill/>
          <a:ln/>
        </p:spPr>
        <p:txBody>
          <a:bodyPr wrap="square" lIns="0" tIns="0" rIns="0" bIns="0" rtlCol="0"/>
          <a:lstStyle/>
          <a:p>
            <a:pPr marL="0" indent="0">
              <a:buNone/>
            </a:pPr>
            <a:r>
              <a:rPr lang="en-US" sz="1200" b="1" dirty="0">
                <a:solidFill>
                  <a:schemeClr val="accent1"/>
                </a:solidFill>
                <a:latin typeface="Calibri" pitchFamily="34" charset="0"/>
                <a:ea typeface="Calibri" pitchFamily="34" charset="-122"/>
                <a:cs typeface="Calibri" pitchFamily="34" charset="-120"/>
              </a:rPr>
              <a:t>WALKTHROUGH 1 OF 4 · THE QUEUE</a:t>
            </a:r>
            <a:endParaRPr lang="en-US" sz="1200" dirty="0"/>
          </a:p>
        </p:txBody>
      </p:sp>
      <p:sp>
        <p:nvSpPr>
          <p:cNvPr id="3" name="Text 0"/>
          <p:cNvSpPr>
            <a:spLocks noGrp="1"/>
          </p:cNvSpPr>
          <p:nvPr>
            <p:ph type="title" idx="101" hasCustomPrompt="1"/>
          </p:nvPr>
        </p:nvSpPr>
        <p:spPr>
          <a:xfrm>
            <a:off x="548640" y="603504"/>
            <a:ext cx="11064240" cy="868680"/>
          </a:xfrm>
          <a:prstGeom prst="rect">
            <a:avLst/>
          </a:prstGeom>
          <a:noFill/>
          <a:ln/>
        </p:spPr>
        <p:txBody>
          <a:bodyPr wrap="square" lIns="0" tIns="0" rIns="0" bIns="0" rtlCol="0" anchor="t"/>
          <a:lstStyle/>
          <a:p>
            <a:pPr marL="0" indent="0" algn="l">
              <a:buNone/>
            </a:pPr>
            <a:r>
              <a:rPr lang="en-US" sz="3000" b="1" dirty="0">
                <a:solidFill>
                  <a:schemeClr val="tx2"/>
                </a:solidFill>
                <a:latin typeface="Cambria" pitchFamily="34" charset="0"/>
                <a:ea typeface="Cambria" pitchFamily="34" charset="-122"/>
                <a:cs typeface="Cambria" pitchFamily="34" charset="-120"/>
              </a:rPr>
              <a:t>Your morning view: every contract, most serious risk first</a:t>
            </a:r>
            <a:endParaRPr lang="en-US" sz="3000" dirty="0"/>
          </a:p>
        </p:txBody>
      </p:sp>
      <p:sp>
        <p:nvSpPr>
          <p:cNvPr id="4" name="shot-frame"/>
          <p:cNvSpPr/>
          <p:nvPr/>
        </p:nvSpPr>
        <p:spPr>
          <a:xfrm>
            <a:off x="530352" y="1581912"/>
            <a:ext cx="7626096" cy="4782312"/>
          </a:xfrm>
          <a:prstGeom prst="rect">
            <a:avLst/>
          </a:prstGeom>
          <a:solidFill>
            <a:srgbClr val="D5DCE6"/>
          </a:solidFill>
          <a:ln w="12700">
            <a:solidFill>
              <a:srgbClr val="D5DCE6"/>
            </a:solidFill>
            <a:prstDash val="solid"/>
          </a:ln>
          <a:effectLst>
            <a:outerShdw blurRad="101600" dist="38100" dir="5400000" algn="bl" rotWithShape="0">
              <a:srgbClr val="1C2431">
                <a:alpha val="18000"/>
              </a:srgbClr>
            </a:outerShdw>
          </a:effectLst>
        </p:spPr>
      </p:sp>
      <p:pic>
        <p:nvPicPr>
          <p:cNvPr id="5" name="screenshot-queue.png" descr="/tmp/claude-0/deck/shots/queue.png"/>
          <p:cNvPicPr>
            <a:picLocks noChangeAspect="1"/>
          </p:cNvPicPr>
          <p:nvPr/>
        </p:nvPicPr>
        <p:blipFill>
          <a:blip r:embed="rId3"/>
          <a:stretch>
            <a:fillRect/>
          </a:stretch>
        </p:blipFill>
        <p:spPr>
          <a:xfrm>
            <a:off x="548640" y="1600200"/>
            <a:ext cx="7589520" cy="4745736"/>
          </a:xfrm>
          <a:prstGeom prst="rect">
            <a:avLst/>
          </a:prstGeom>
        </p:spPr>
      </p:pic>
      <p:sp>
        <p:nvSpPr>
          <p:cNvPr id="6" name="num-1"/>
          <p:cNvSpPr/>
          <p:nvPr/>
        </p:nvSpPr>
        <p:spPr>
          <a:xfrm>
            <a:off x="8503920" y="1691640"/>
            <a:ext cx="384048" cy="384048"/>
          </a:xfrm>
          <a:prstGeom prst="ellipse">
            <a:avLst/>
          </a:prstGeom>
          <a:solidFill>
            <a:schemeClr val="accent2"/>
          </a:solidFill>
          <a:ln w="12700">
            <a:solidFill>
              <a:schemeClr val="accent2"/>
            </a:solidFill>
            <a:prstDash val="solid"/>
          </a:ln>
        </p:spPr>
      </p:sp>
      <p:sp>
        <p:nvSpPr>
          <p:cNvPr id="7" name="Text 4"/>
          <p:cNvSpPr txBox="1"/>
          <p:nvPr/>
        </p:nvSpPr>
        <p:spPr>
          <a:xfrm>
            <a:off x="8503920" y="1691640"/>
            <a:ext cx="384048" cy="384048"/>
          </a:xfrm>
          <a:prstGeom prst="rect">
            <a:avLst/>
          </a:prstGeom>
          <a:noFill/>
          <a:ln/>
        </p:spPr>
        <p:txBody>
          <a:bodyPr wrap="square" lIns="0" tIns="0" rIns="0" bIns="0" rtlCol="0" anchor="ctr"/>
          <a:lstStyle/>
          <a:p>
            <a:pPr marL="0" indent="0" algn="ctr">
              <a:buNone/>
            </a:pPr>
            <a:r>
              <a:rPr lang="en-US" sz="1500" b="1" dirty="0">
                <a:solidFill>
                  <a:schemeClr val="tx2"/>
                </a:solidFill>
              </a:rPr>
              <a:t>1</a:t>
            </a:r>
            <a:endParaRPr lang="en-US" sz="1500" dirty="0"/>
          </a:p>
        </p:txBody>
      </p:sp>
      <p:sp>
        <p:nvSpPr>
          <p:cNvPr id="8" name="Text 5"/>
          <p:cNvSpPr txBox="1"/>
          <p:nvPr/>
        </p:nvSpPr>
        <p:spPr>
          <a:xfrm>
            <a:off x="9052560" y="1691640"/>
            <a:ext cx="256032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Ranked for you</a:t>
            </a:r>
            <a:endParaRPr lang="en-US" sz="1600" dirty="0"/>
          </a:p>
        </p:txBody>
      </p:sp>
      <p:sp>
        <p:nvSpPr>
          <p:cNvPr id="9" name="Text 6"/>
          <p:cNvSpPr txBox="1"/>
          <p:nvPr/>
        </p:nvSpPr>
        <p:spPr>
          <a:xfrm>
            <a:off x="9052560" y="2057400"/>
            <a:ext cx="256032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Critical conflicts and nearest deadlines rise to the top. No more whiteboard queue.</a:t>
            </a:r>
            <a:endParaRPr lang="en-US" sz="1400" dirty="0"/>
          </a:p>
        </p:txBody>
      </p:sp>
      <p:sp>
        <p:nvSpPr>
          <p:cNvPr id="10" name="num-2"/>
          <p:cNvSpPr/>
          <p:nvPr/>
        </p:nvSpPr>
        <p:spPr>
          <a:xfrm>
            <a:off x="8503920" y="3200400"/>
            <a:ext cx="384048" cy="384048"/>
          </a:xfrm>
          <a:prstGeom prst="ellipse">
            <a:avLst/>
          </a:prstGeom>
          <a:solidFill>
            <a:schemeClr val="accent2"/>
          </a:solidFill>
          <a:ln w="12700">
            <a:solidFill>
              <a:schemeClr val="accent2"/>
            </a:solidFill>
            <a:prstDash val="solid"/>
          </a:ln>
        </p:spPr>
      </p:sp>
      <p:sp>
        <p:nvSpPr>
          <p:cNvPr id="11" name="Text 8"/>
          <p:cNvSpPr txBox="1"/>
          <p:nvPr/>
        </p:nvSpPr>
        <p:spPr>
          <a:xfrm>
            <a:off x="8503920" y="3200400"/>
            <a:ext cx="384048" cy="384048"/>
          </a:xfrm>
          <a:prstGeom prst="rect">
            <a:avLst/>
          </a:prstGeom>
          <a:noFill/>
          <a:ln/>
        </p:spPr>
        <p:txBody>
          <a:bodyPr wrap="square" lIns="0" tIns="0" rIns="0" bIns="0" rtlCol="0" anchor="ctr"/>
          <a:lstStyle/>
          <a:p>
            <a:pPr marL="0" indent="0" algn="ctr">
              <a:buNone/>
            </a:pPr>
            <a:r>
              <a:rPr lang="en-US" sz="1500" b="1" dirty="0">
                <a:solidFill>
                  <a:schemeClr val="tx2"/>
                </a:solidFill>
              </a:rPr>
              <a:t>2</a:t>
            </a:r>
            <a:endParaRPr lang="en-US" sz="1500" dirty="0"/>
          </a:p>
        </p:txBody>
      </p:sp>
      <p:sp>
        <p:nvSpPr>
          <p:cNvPr id="12" name="Text 9"/>
          <p:cNvSpPr txBox="1"/>
          <p:nvPr/>
        </p:nvSpPr>
        <p:spPr>
          <a:xfrm>
            <a:off x="9052560" y="3200400"/>
            <a:ext cx="256032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One-line top risk</a:t>
            </a:r>
            <a:endParaRPr lang="en-US" sz="1600" dirty="0"/>
          </a:p>
        </p:txBody>
      </p:sp>
      <p:sp>
        <p:nvSpPr>
          <p:cNvPr id="13" name="Text 10"/>
          <p:cNvSpPr txBox="1"/>
          <p:nvPr/>
        </p:nvSpPr>
        <p:spPr>
          <a:xfrm>
            <a:off x="9052560" y="3566160"/>
            <a:ext cx="256032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e.g. “Saudi hotel analytics collides with Al Noor GCC non-compete”.</a:t>
            </a:r>
            <a:endParaRPr lang="en-US" sz="1400" dirty="0"/>
          </a:p>
        </p:txBody>
      </p:sp>
      <p:sp>
        <p:nvSpPr>
          <p:cNvPr id="14" name="num-3"/>
          <p:cNvSpPr/>
          <p:nvPr/>
        </p:nvSpPr>
        <p:spPr>
          <a:xfrm>
            <a:off x="8503920" y="4709160"/>
            <a:ext cx="384048" cy="384048"/>
          </a:xfrm>
          <a:prstGeom prst="ellipse">
            <a:avLst/>
          </a:prstGeom>
          <a:solidFill>
            <a:schemeClr val="accent2"/>
          </a:solidFill>
          <a:ln w="12700">
            <a:solidFill>
              <a:schemeClr val="accent2"/>
            </a:solidFill>
            <a:prstDash val="solid"/>
          </a:ln>
        </p:spPr>
      </p:sp>
      <p:sp>
        <p:nvSpPr>
          <p:cNvPr id="15" name="Text 12"/>
          <p:cNvSpPr txBox="1"/>
          <p:nvPr/>
        </p:nvSpPr>
        <p:spPr>
          <a:xfrm>
            <a:off x="8503920" y="4709160"/>
            <a:ext cx="384048" cy="384048"/>
          </a:xfrm>
          <a:prstGeom prst="rect">
            <a:avLst/>
          </a:prstGeom>
          <a:noFill/>
          <a:ln/>
        </p:spPr>
        <p:txBody>
          <a:bodyPr wrap="square" lIns="0" tIns="0" rIns="0" bIns="0" rtlCol="0" anchor="ctr"/>
          <a:lstStyle/>
          <a:p>
            <a:pPr marL="0" indent="0" algn="ctr">
              <a:buNone/>
            </a:pPr>
            <a:r>
              <a:rPr lang="en-US" sz="1500" b="1" dirty="0">
                <a:solidFill>
                  <a:schemeClr val="tx2"/>
                </a:solidFill>
              </a:rPr>
              <a:t>3</a:t>
            </a:r>
            <a:endParaRPr lang="en-US" sz="1500" dirty="0"/>
          </a:p>
        </p:txBody>
      </p:sp>
      <p:sp>
        <p:nvSpPr>
          <p:cNvPr id="16" name="Text 13"/>
          <p:cNvSpPr txBox="1"/>
          <p:nvPr/>
        </p:nvSpPr>
        <p:spPr>
          <a:xfrm>
            <a:off x="9052560" y="4709160"/>
            <a:ext cx="256032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Everyone sees their own</a:t>
            </a:r>
            <a:endParaRPr lang="en-US" sz="1600" dirty="0"/>
          </a:p>
        </p:txBody>
      </p:sp>
      <p:sp>
        <p:nvSpPr>
          <p:cNvPr id="17" name="Text 14"/>
          <p:cNvSpPr txBox="1"/>
          <p:nvPr/>
        </p:nvSpPr>
        <p:spPr>
          <a:xfrm>
            <a:off x="9052560" y="5074920"/>
            <a:ext cx="256032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Bhavin, Dhaval, Jay and Pranav filter to their contracts and see where you asked for feedback.</a:t>
            </a:r>
            <a:endParaRPr lang="en-US" sz="1400" dirty="0"/>
          </a:p>
        </p:txBody>
      </p:sp>
      <p:sp>
        <p:nvSpPr>
          <p:cNvPr id="25"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329184"/>
          </a:xfrm>
          <a:prstGeom prst="rect">
            <a:avLst/>
          </a:prstGeom>
          <a:noFill/>
          <a:ln/>
        </p:spPr>
        <p:txBody>
          <a:bodyPr wrap="square" lIns="0" tIns="0" rIns="0" bIns="0" rtlCol="0"/>
          <a:lstStyle/>
          <a:p>
            <a:pPr marL="0" indent="0">
              <a:buNone/>
            </a:pPr>
            <a:r>
              <a:rPr lang="en-US" sz="1200" b="1" dirty="0">
                <a:solidFill>
                  <a:schemeClr val="accent1"/>
                </a:solidFill>
                <a:latin typeface="Calibri" pitchFamily="34" charset="0"/>
                <a:ea typeface="Calibri" pitchFamily="34" charset="-122"/>
                <a:cs typeface="Calibri" pitchFamily="34" charset="-120"/>
              </a:rPr>
              <a:t>WALKTHROUGH 2 OF 4 · THE RISK BRIEF</a:t>
            </a:r>
            <a:endParaRPr lang="en-US" sz="1200" dirty="0"/>
          </a:p>
        </p:txBody>
      </p:sp>
      <p:sp>
        <p:nvSpPr>
          <p:cNvPr id="3" name="Text 0"/>
          <p:cNvSpPr>
            <a:spLocks noGrp="1"/>
          </p:cNvSpPr>
          <p:nvPr>
            <p:ph type="title" idx="101" hasCustomPrompt="1"/>
          </p:nvPr>
        </p:nvSpPr>
        <p:spPr>
          <a:xfrm>
            <a:off x="548640" y="603504"/>
            <a:ext cx="11064240" cy="868680"/>
          </a:xfrm>
          <a:prstGeom prst="rect">
            <a:avLst/>
          </a:prstGeom>
          <a:noFill/>
          <a:ln/>
        </p:spPr>
        <p:txBody>
          <a:bodyPr wrap="square" lIns="0" tIns="0" rIns="0" bIns="0" rtlCol="0" anchor="t"/>
          <a:lstStyle/>
          <a:p>
            <a:pPr marL="0" indent="0" algn="l">
              <a:buNone/>
            </a:pPr>
            <a:r>
              <a:rPr lang="en-US" sz="3000" b="1" dirty="0">
                <a:solidFill>
                  <a:schemeClr val="tx2"/>
                </a:solidFill>
                <a:latin typeface="Cambria" pitchFamily="34" charset="0"/>
                <a:ea typeface="Cambria" pitchFamily="34" charset="-122"/>
                <a:cs typeface="Cambria" pitchFamily="34" charset="-120"/>
              </a:rPr>
              <a:t>Each risk shows the draft clause next to what it breaks</a:t>
            </a:r>
            <a:endParaRPr lang="en-US" sz="3000" dirty="0"/>
          </a:p>
        </p:txBody>
      </p:sp>
      <p:sp>
        <p:nvSpPr>
          <p:cNvPr id="4" name="shot-frame"/>
          <p:cNvSpPr/>
          <p:nvPr/>
        </p:nvSpPr>
        <p:spPr>
          <a:xfrm>
            <a:off x="530352" y="1581912"/>
            <a:ext cx="7626096" cy="4782312"/>
          </a:xfrm>
          <a:prstGeom prst="rect">
            <a:avLst/>
          </a:prstGeom>
          <a:solidFill>
            <a:srgbClr val="D5DCE6"/>
          </a:solidFill>
          <a:ln w="12700">
            <a:solidFill>
              <a:srgbClr val="D5DCE6"/>
            </a:solidFill>
            <a:prstDash val="solid"/>
          </a:ln>
          <a:effectLst>
            <a:outerShdw blurRad="101600" dist="38100" dir="5400000" algn="bl" rotWithShape="0">
              <a:srgbClr val="1C2431">
                <a:alpha val="18000"/>
              </a:srgbClr>
            </a:outerShdw>
          </a:effectLst>
        </p:spPr>
      </p:sp>
      <p:pic>
        <p:nvPicPr>
          <p:cNvPr id="5" name="screenshot-brief_crop.png" descr="/tmp/claude-0/deck/shots/brief_crop.png"/>
          <p:cNvPicPr>
            <a:picLocks noChangeAspect="1"/>
          </p:cNvPicPr>
          <p:nvPr/>
        </p:nvPicPr>
        <p:blipFill>
          <a:blip r:embed="rId3"/>
          <a:stretch>
            <a:fillRect/>
          </a:stretch>
        </p:blipFill>
        <p:spPr>
          <a:xfrm>
            <a:off x="548640" y="1600200"/>
            <a:ext cx="7589520" cy="4745736"/>
          </a:xfrm>
          <a:prstGeom prst="rect">
            <a:avLst/>
          </a:prstGeom>
        </p:spPr>
      </p:pic>
      <p:sp>
        <p:nvSpPr>
          <p:cNvPr id="6" name="num-1"/>
          <p:cNvSpPr/>
          <p:nvPr/>
        </p:nvSpPr>
        <p:spPr>
          <a:xfrm>
            <a:off x="8503920" y="1691640"/>
            <a:ext cx="384048" cy="384048"/>
          </a:xfrm>
          <a:prstGeom prst="ellipse">
            <a:avLst/>
          </a:prstGeom>
          <a:solidFill>
            <a:schemeClr val="accent2"/>
          </a:solidFill>
          <a:ln w="12700">
            <a:solidFill>
              <a:schemeClr val="accent2"/>
            </a:solidFill>
            <a:prstDash val="solid"/>
          </a:ln>
        </p:spPr>
      </p:sp>
      <p:sp>
        <p:nvSpPr>
          <p:cNvPr id="7" name="Text 4"/>
          <p:cNvSpPr txBox="1"/>
          <p:nvPr/>
        </p:nvSpPr>
        <p:spPr>
          <a:xfrm>
            <a:off x="8503920" y="1691640"/>
            <a:ext cx="384048" cy="384048"/>
          </a:xfrm>
          <a:prstGeom prst="rect">
            <a:avLst/>
          </a:prstGeom>
          <a:noFill/>
          <a:ln/>
        </p:spPr>
        <p:txBody>
          <a:bodyPr wrap="square" lIns="0" tIns="0" rIns="0" bIns="0" rtlCol="0" anchor="ctr"/>
          <a:lstStyle/>
          <a:p>
            <a:pPr marL="0" indent="0" algn="ctr">
              <a:buNone/>
            </a:pPr>
            <a:r>
              <a:rPr lang="en-US" sz="1500" b="1" dirty="0">
                <a:solidFill>
                  <a:schemeClr val="tx2"/>
                </a:solidFill>
              </a:rPr>
              <a:t>1</a:t>
            </a:r>
            <a:endParaRPr lang="en-US" sz="1500" dirty="0"/>
          </a:p>
        </p:txBody>
      </p:sp>
      <p:sp>
        <p:nvSpPr>
          <p:cNvPr id="8" name="Text 5"/>
          <p:cNvSpPr txBox="1"/>
          <p:nvPr/>
        </p:nvSpPr>
        <p:spPr>
          <a:xfrm>
            <a:off x="9052560" y="1691640"/>
            <a:ext cx="256032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Side by side, verified</a:t>
            </a:r>
            <a:endParaRPr lang="en-US" sz="1600" dirty="0"/>
          </a:p>
        </p:txBody>
      </p:sp>
      <p:sp>
        <p:nvSpPr>
          <p:cNvPr id="9" name="Text 6"/>
          <p:cNvSpPr txBox="1"/>
          <p:nvPr/>
        </p:nvSpPr>
        <p:spPr>
          <a:xfrm>
            <a:off x="9052560" y="2057400"/>
            <a:ext cx="256032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Gulf Crown §4.1 next to Al Noor MSA §12, both checked word for word.</a:t>
            </a:r>
            <a:endParaRPr lang="en-US" sz="1400" dirty="0"/>
          </a:p>
        </p:txBody>
      </p:sp>
      <p:sp>
        <p:nvSpPr>
          <p:cNvPr id="10" name="num-2"/>
          <p:cNvSpPr/>
          <p:nvPr/>
        </p:nvSpPr>
        <p:spPr>
          <a:xfrm>
            <a:off x="8503920" y="3200400"/>
            <a:ext cx="384048" cy="384048"/>
          </a:xfrm>
          <a:prstGeom prst="ellipse">
            <a:avLst/>
          </a:prstGeom>
          <a:solidFill>
            <a:schemeClr val="accent2"/>
          </a:solidFill>
          <a:ln w="12700">
            <a:solidFill>
              <a:schemeClr val="accent2"/>
            </a:solidFill>
            <a:prstDash val="solid"/>
          </a:ln>
        </p:spPr>
      </p:sp>
      <p:sp>
        <p:nvSpPr>
          <p:cNvPr id="11" name="Text 8"/>
          <p:cNvSpPr txBox="1"/>
          <p:nvPr/>
        </p:nvSpPr>
        <p:spPr>
          <a:xfrm>
            <a:off x="8503920" y="3200400"/>
            <a:ext cx="384048" cy="384048"/>
          </a:xfrm>
          <a:prstGeom prst="rect">
            <a:avLst/>
          </a:prstGeom>
          <a:noFill/>
          <a:ln/>
        </p:spPr>
        <p:txBody>
          <a:bodyPr wrap="square" lIns="0" tIns="0" rIns="0" bIns="0" rtlCol="0" anchor="ctr"/>
          <a:lstStyle/>
          <a:p>
            <a:pPr marL="0" indent="0" algn="ctr">
              <a:buNone/>
            </a:pPr>
            <a:r>
              <a:rPr lang="en-US" sz="1500" b="1" dirty="0">
                <a:solidFill>
                  <a:schemeClr val="tx2"/>
                </a:solidFill>
              </a:rPr>
              <a:t>2</a:t>
            </a:r>
            <a:endParaRPr lang="en-US" sz="1500" dirty="0"/>
          </a:p>
        </p:txBody>
      </p:sp>
      <p:sp>
        <p:nvSpPr>
          <p:cNvPr id="12" name="Text 9"/>
          <p:cNvSpPr txBox="1"/>
          <p:nvPr/>
        </p:nvSpPr>
        <p:spPr>
          <a:xfrm>
            <a:off x="9052560" y="3200400"/>
            <a:ext cx="256032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Why it matters, history</a:t>
            </a:r>
            <a:endParaRPr lang="en-US" sz="1600" dirty="0"/>
          </a:p>
        </p:txBody>
      </p:sp>
      <p:sp>
        <p:nvSpPr>
          <p:cNvPr id="13" name="Text 10"/>
          <p:cNvSpPr txBox="1"/>
          <p:nvPr/>
        </p:nvSpPr>
        <p:spPr>
          <a:xfrm>
            <a:off x="9052560" y="3566160"/>
            <a:ext cx="256032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Breach risk on $140k; the Seaside waiver does not cover it.</a:t>
            </a:r>
            <a:endParaRPr lang="en-US" sz="1400" dirty="0"/>
          </a:p>
        </p:txBody>
      </p:sp>
      <p:sp>
        <p:nvSpPr>
          <p:cNvPr id="14" name="num-3"/>
          <p:cNvSpPr/>
          <p:nvPr/>
        </p:nvSpPr>
        <p:spPr>
          <a:xfrm>
            <a:off x="8503920" y="4709160"/>
            <a:ext cx="384048" cy="384048"/>
          </a:xfrm>
          <a:prstGeom prst="ellipse">
            <a:avLst/>
          </a:prstGeom>
          <a:solidFill>
            <a:schemeClr val="accent2"/>
          </a:solidFill>
          <a:ln w="12700">
            <a:solidFill>
              <a:schemeClr val="accent2"/>
            </a:solidFill>
            <a:prstDash val="solid"/>
          </a:ln>
        </p:spPr>
      </p:sp>
      <p:sp>
        <p:nvSpPr>
          <p:cNvPr id="15" name="Text 12"/>
          <p:cNvSpPr txBox="1"/>
          <p:nvPr/>
        </p:nvSpPr>
        <p:spPr>
          <a:xfrm>
            <a:off x="8503920" y="4709160"/>
            <a:ext cx="384048" cy="384048"/>
          </a:xfrm>
          <a:prstGeom prst="rect">
            <a:avLst/>
          </a:prstGeom>
          <a:noFill/>
          <a:ln/>
        </p:spPr>
        <p:txBody>
          <a:bodyPr wrap="square" lIns="0" tIns="0" rIns="0" bIns="0" rtlCol="0" anchor="ctr"/>
          <a:lstStyle/>
          <a:p>
            <a:pPr marL="0" indent="0" algn="ctr">
              <a:buNone/>
            </a:pPr>
            <a:r>
              <a:rPr lang="en-US" sz="1500" b="1" dirty="0">
                <a:solidFill>
                  <a:schemeClr val="tx2"/>
                </a:solidFill>
              </a:rPr>
              <a:t>3</a:t>
            </a:r>
            <a:endParaRPr lang="en-US" sz="1500" dirty="0"/>
          </a:p>
        </p:txBody>
      </p:sp>
      <p:sp>
        <p:nvSpPr>
          <p:cNvPr id="16" name="Text 13"/>
          <p:cNvSpPr txBox="1"/>
          <p:nvPr/>
        </p:nvSpPr>
        <p:spPr>
          <a:xfrm>
            <a:off x="9052560" y="4709160"/>
            <a:ext cx="256032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You decide</a:t>
            </a:r>
            <a:endParaRPr lang="en-US" sz="1600" dirty="0"/>
          </a:p>
        </p:txBody>
      </p:sp>
      <p:sp>
        <p:nvSpPr>
          <p:cNvPr id="17" name="Text 14"/>
          <p:cNvSpPr txBox="1"/>
          <p:nvPr/>
        </p:nvSpPr>
        <p:spPr>
          <a:xfrm>
            <a:off x="9052560" y="5074920"/>
            <a:ext cx="256032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“Suggestion – KD decides”. Approve, negotiate, counsel or reject is yours; ACA never signs.</a:t>
            </a:r>
            <a:endParaRPr lang="en-US" sz="1400" dirty="0"/>
          </a:p>
        </p:txBody>
      </p:sp>
      <p:sp>
        <p:nvSpPr>
          <p:cNvPr id="25"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329184"/>
          </a:xfrm>
          <a:prstGeom prst="rect">
            <a:avLst/>
          </a:prstGeom>
          <a:noFill/>
          <a:ln/>
        </p:spPr>
        <p:txBody>
          <a:bodyPr wrap="square" lIns="0" tIns="0" rIns="0" bIns="0" rtlCol="0"/>
          <a:lstStyle/>
          <a:p>
            <a:pPr marL="0" indent="0">
              <a:buNone/>
            </a:pPr>
            <a:r>
              <a:rPr lang="en-US" sz="1200" b="1" dirty="0">
                <a:solidFill>
                  <a:schemeClr val="accent1"/>
                </a:solidFill>
                <a:latin typeface="Calibri" pitchFamily="34" charset="0"/>
                <a:ea typeface="Calibri" pitchFamily="34" charset="-122"/>
                <a:cs typeface="Calibri" pitchFamily="34" charset="-120"/>
              </a:rPr>
              <a:t>WALKTHROUGH 3 OF 4 · MEMORY AND PRIVACY</a:t>
            </a:r>
            <a:endParaRPr lang="en-US" sz="1200" dirty="0"/>
          </a:p>
        </p:txBody>
      </p:sp>
      <p:sp>
        <p:nvSpPr>
          <p:cNvPr id="3" name="Text 0"/>
          <p:cNvSpPr>
            <a:spLocks noGrp="1"/>
          </p:cNvSpPr>
          <p:nvPr>
            <p:ph type="title" idx="101" hasCustomPrompt="1"/>
          </p:nvPr>
        </p:nvSpPr>
        <p:spPr>
          <a:xfrm>
            <a:off x="548640" y="603504"/>
            <a:ext cx="11064240" cy="868680"/>
          </a:xfrm>
          <a:prstGeom prst="rect">
            <a:avLst/>
          </a:prstGeom>
          <a:noFill/>
          <a:ln/>
        </p:spPr>
        <p:txBody>
          <a:bodyPr wrap="square" lIns="0" tIns="0" rIns="0" bIns="0" rtlCol="0" anchor="t"/>
          <a:lstStyle/>
          <a:p>
            <a:pPr marL="0" indent="0" algn="l">
              <a:buNone/>
            </a:pPr>
            <a:r>
              <a:rPr lang="en-US" sz="3000" b="1" dirty="0">
                <a:solidFill>
                  <a:schemeClr val="tx2"/>
                </a:solidFill>
                <a:latin typeface="Cambria" pitchFamily="34" charset="0"/>
                <a:ea typeface="Cambria" pitchFamily="34" charset="-122"/>
                <a:cs typeface="Cambria" pitchFamily="34" charset="-120"/>
              </a:rPr>
              <a:t>AtliQ's promises in one place – and nothing sensitive leaks</a:t>
            </a:r>
            <a:endParaRPr lang="en-US" sz="3000" dirty="0"/>
          </a:p>
        </p:txBody>
      </p:sp>
      <p:sp>
        <p:nvSpPr>
          <p:cNvPr id="4" name="shot-frame"/>
          <p:cNvSpPr/>
          <p:nvPr/>
        </p:nvSpPr>
        <p:spPr>
          <a:xfrm>
            <a:off x="530352" y="1581912"/>
            <a:ext cx="6803136" cy="4270248"/>
          </a:xfrm>
          <a:prstGeom prst="rect">
            <a:avLst/>
          </a:prstGeom>
          <a:solidFill>
            <a:srgbClr val="D5DCE6"/>
          </a:solidFill>
          <a:ln w="12700">
            <a:solidFill>
              <a:srgbClr val="D5DCE6"/>
            </a:solidFill>
            <a:prstDash val="solid"/>
          </a:ln>
          <a:effectLst>
            <a:outerShdw blurRad="101600" dist="38100" dir="5400000" algn="bl" rotWithShape="0">
              <a:srgbClr val="1C2431">
                <a:alpha val="18000"/>
              </a:srgbClr>
            </a:outerShdw>
          </a:effectLst>
        </p:spPr>
      </p:sp>
      <p:pic>
        <p:nvPicPr>
          <p:cNvPr id="5" name="screenshot-register.png" descr="/tmp/claude-0/deck/shots/register.png"/>
          <p:cNvPicPr>
            <a:picLocks noChangeAspect="1"/>
          </p:cNvPicPr>
          <p:nvPr/>
        </p:nvPicPr>
        <p:blipFill>
          <a:blip r:embed="rId3"/>
          <a:stretch>
            <a:fillRect/>
          </a:stretch>
        </p:blipFill>
        <p:spPr>
          <a:xfrm>
            <a:off x="548640" y="1600200"/>
            <a:ext cx="6766560" cy="4233672"/>
          </a:xfrm>
          <a:prstGeom prst="rect">
            <a:avLst/>
          </a:prstGeom>
        </p:spPr>
      </p:pic>
      <p:sp>
        <p:nvSpPr>
          <p:cNvPr id="6" name="Text 3"/>
          <p:cNvSpPr txBox="1"/>
          <p:nvPr/>
        </p:nvSpPr>
        <p:spPr>
          <a:xfrm>
            <a:off x="548640" y="5943600"/>
            <a:ext cx="6766560" cy="411480"/>
          </a:xfrm>
          <a:prstGeom prst="rect">
            <a:avLst/>
          </a:prstGeom>
          <a:noFill/>
          <a:ln/>
        </p:spPr>
        <p:txBody>
          <a:bodyPr wrap="square" lIns="0" tIns="0" rIns="0" bIns="0" rtlCol="0" anchor="t"/>
          <a:lstStyle/>
          <a:p>
            <a:pPr marL="0" indent="0">
              <a:buNone/>
            </a:pPr>
            <a:r>
              <a:rPr lang="en-US" sz="1300" dirty="0">
                <a:solidFill>
                  <a:schemeClr val="accent5"/>
                </a:solidFill>
                <a:latin typeface="Calibri" pitchFamily="34" charset="0"/>
                <a:ea typeface="Calibri" pitchFamily="34" charset="-122"/>
                <a:cs typeface="Calibri" pitchFamily="34" charset="-120"/>
              </a:rPr>
              <a:t>Commitments register: you confirm each entry once; until then it is marked “Waiting for KD”.</a:t>
            </a:r>
            <a:endParaRPr lang="en-US" sz="1300" dirty="0"/>
          </a:p>
        </p:txBody>
      </p:sp>
      <p:sp>
        <p:nvSpPr>
          <p:cNvPr id="7" name="privacy-card"/>
          <p:cNvSpPr/>
          <p:nvPr/>
        </p:nvSpPr>
        <p:spPr>
          <a:xfrm>
            <a:off x="7680960" y="1600200"/>
            <a:ext cx="3931920" cy="4754880"/>
          </a:xfrm>
          <a:prstGeom prst="roundRect">
            <a:avLst>
              <a:gd name="adj" fmla="val 1860"/>
            </a:avLst>
          </a:prstGeom>
          <a:solidFill>
            <a:schemeClr val="bg2"/>
          </a:solidFill>
          <a:ln w="12700">
            <a:solidFill>
              <a:schemeClr val="bg2"/>
            </a:solidFill>
            <a:prstDash val="solid"/>
          </a:ln>
        </p:spPr>
      </p:sp>
      <p:sp>
        <p:nvSpPr>
          <p:cNvPr id="8" name="icon-circle"/>
          <p:cNvSpPr/>
          <p:nvPr/>
        </p:nvSpPr>
        <p:spPr>
          <a:xfrm>
            <a:off x="7909560" y="1783080"/>
            <a:ext cx="640080" cy="640080"/>
          </a:xfrm>
          <a:prstGeom prst="ellipse">
            <a:avLst/>
          </a:prstGeom>
          <a:solidFill>
            <a:schemeClr val="tx2"/>
          </a:solidFill>
          <a:ln w="12700">
            <a:solidFill>
              <a:schemeClr val="tx2"/>
            </a:solidFill>
            <a:prstDash val="solid"/>
          </a:ln>
        </p:spPr>
      </p:sp>
      <p:pic>
        <p:nvPicPr>
          <p:cNvPr id="9" name="icon-FaUserSecret" descr="preencoded.png"/>
          <p:cNvPicPr>
            <a:picLocks noChangeAspect="1"/>
          </p:cNvPicPr>
          <p:nvPr/>
        </p:nvPicPr>
        <p:blipFill>
          <a:blip r:embed="rId4"/>
          <a:stretch>
            <a:fillRect/>
          </a:stretch>
        </p:blipFill>
        <p:spPr>
          <a:xfrm>
            <a:off x="8063179" y="1936699"/>
            <a:ext cx="332842" cy="332842"/>
          </a:xfrm>
          <a:prstGeom prst="rect">
            <a:avLst/>
          </a:prstGeom>
        </p:spPr>
      </p:pic>
      <p:sp>
        <p:nvSpPr>
          <p:cNvPr id="10" name="Text 6"/>
          <p:cNvSpPr txBox="1"/>
          <p:nvPr/>
        </p:nvSpPr>
        <p:spPr>
          <a:xfrm>
            <a:off x="8686800" y="1920240"/>
            <a:ext cx="2834640" cy="365760"/>
          </a:xfrm>
          <a:prstGeom prst="rect">
            <a:avLst/>
          </a:prstGeom>
          <a:noFill/>
          <a:ln/>
        </p:spPr>
        <p:txBody>
          <a:bodyPr wrap="square" lIns="0" tIns="0" rIns="0" bIns="0" rtlCol="0" anchor="t"/>
          <a:lstStyle/>
          <a:p>
            <a:pPr marL="0" indent="0">
              <a:buNone/>
            </a:pPr>
            <a:r>
              <a:rPr lang="en-US" sz="1700" b="1" dirty="0">
                <a:solidFill>
                  <a:schemeClr val="tx2"/>
                </a:solidFill>
                <a:latin typeface="Calibri" pitchFamily="34" charset="0"/>
                <a:ea typeface="Calibri" pitchFamily="34" charset="-122"/>
                <a:cs typeface="Calibri" pitchFamily="34" charset="-120"/>
              </a:rPr>
              <a:t>What leaves AtliQ</a:t>
            </a:r>
            <a:endParaRPr lang="en-US" sz="1700" dirty="0"/>
          </a:p>
        </p:txBody>
      </p:sp>
      <p:sp>
        <p:nvSpPr>
          <p:cNvPr id="11" name="Text 7"/>
          <p:cNvSpPr txBox="1"/>
          <p:nvPr/>
        </p:nvSpPr>
        <p:spPr>
          <a:xfrm>
            <a:off x="7955280" y="2651760"/>
            <a:ext cx="3474720" cy="274320"/>
          </a:xfrm>
          <a:prstGeom prst="rect">
            <a:avLst/>
          </a:prstGeom>
          <a:noFill/>
          <a:ln/>
        </p:spPr>
        <p:txBody>
          <a:bodyPr wrap="square" lIns="0" tIns="0" rIns="0" bIns="0" rtlCol="0" anchor="t"/>
          <a:lstStyle/>
          <a:p>
            <a:pPr marL="0" indent="0">
              <a:buNone/>
            </a:pPr>
            <a:r>
              <a:rPr lang="en-US" sz="1200" b="1" dirty="0">
                <a:solidFill>
                  <a:schemeClr val="accent3"/>
                </a:solidFill>
                <a:latin typeface="Calibri" pitchFamily="34" charset="0"/>
                <a:ea typeface="Calibri" pitchFamily="34" charset="-122"/>
                <a:cs typeface="Calibri" pitchFamily="34" charset="-120"/>
              </a:rPr>
              <a:t>Before</a:t>
            </a:r>
            <a:endParaRPr lang="en-US" sz="1200" dirty="0"/>
          </a:p>
        </p:txBody>
      </p:sp>
      <p:sp>
        <p:nvSpPr>
          <p:cNvPr id="12" name="Text 8"/>
          <p:cNvSpPr txBox="1"/>
          <p:nvPr/>
        </p:nvSpPr>
        <p:spPr>
          <a:xfrm>
            <a:off x="7955280" y="2926080"/>
            <a:ext cx="3429000" cy="777240"/>
          </a:xfrm>
          <a:prstGeom prst="rect">
            <a:avLst/>
          </a:prstGeom>
          <a:noFill/>
          <a:ln/>
        </p:spPr>
        <p:txBody>
          <a:bodyPr wrap="square" lIns="0" tIns="0" rIns="0" bIns="0" rtlCol="0" anchor="t"/>
          <a:lstStyle/>
          <a:p>
            <a:pPr marL="0" indent="0">
              <a:buNone/>
            </a:pPr>
            <a:r>
              <a:rPr lang="en-US" sz="1200" dirty="0">
                <a:solidFill>
                  <a:schemeClr val="tx1"/>
                </a:solidFill>
                <a:latin typeface="Courier New" pitchFamily="34" charset="0"/>
                <a:ea typeface="Courier New" pitchFamily="34" charset="-122"/>
                <a:cs typeface="Courier New" pitchFamily="34" charset="-120"/>
              </a:rPr>
              <a:t>CIN U72900MH2019PTC321456, registered office at 4th Floor, Baner Business Bay, Pune</a:t>
            </a:r>
            <a:endParaRPr lang="en-US" sz="1200" dirty="0"/>
          </a:p>
        </p:txBody>
      </p:sp>
      <p:sp>
        <p:nvSpPr>
          <p:cNvPr id="13" name="Text 9"/>
          <p:cNvSpPr txBox="1"/>
          <p:nvPr/>
        </p:nvSpPr>
        <p:spPr>
          <a:xfrm>
            <a:off x="7955280" y="3794760"/>
            <a:ext cx="3474720" cy="274320"/>
          </a:xfrm>
          <a:prstGeom prst="rect">
            <a:avLst/>
          </a:prstGeom>
          <a:noFill/>
          <a:ln/>
        </p:spPr>
        <p:txBody>
          <a:bodyPr wrap="square" lIns="0" tIns="0" rIns="0" bIns="0" rtlCol="0" anchor="t"/>
          <a:lstStyle/>
          <a:p>
            <a:pPr marL="0" indent="0">
              <a:buNone/>
            </a:pPr>
            <a:r>
              <a:rPr lang="en-US" sz="1200" b="1" dirty="0">
                <a:solidFill>
                  <a:schemeClr val="accent4"/>
                </a:solidFill>
                <a:latin typeface="Calibri" pitchFamily="34" charset="0"/>
                <a:ea typeface="Calibri" pitchFamily="34" charset="-122"/>
                <a:cs typeface="Calibri" pitchFamily="34" charset="-120"/>
              </a:rPr>
              <a:t>Sent to the AI</a:t>
            </a:r>
            <a:endParaRPr lang="en-US" sz="1200" dirty="0"/>
          </a:p>
        </p:txBody>
      </p:sp>
      <p:sp>
        <p:nvSpPr>
          <p:cNvPr id="14" name="Text 10"/>
          <p:cNvSpPr txBox="1"/>
          <p:nvPr/>
        </p:nvSpPr>
        <p:spPr>
          <a:xfrm>
            <a:off x="7955280" y="4069080"/>
            <a:ext cx="3429000" cy="640080"/>
          </a:xfrm>
          <a:prstGeom prst="rect">
            <a:avLst/>
          </a:prstGeom>
          <a:noFill/>
          <a:ln/>
        </p:spPr>
        <p:txBody>
          <a:bodyPr wrap="square" lIns="0" tIns="0" rIns="0" bIns="0" rtlCol="0" anchor="t"/>
          <a:lstStyle/>
          <a:p>
            <a:pPr marL="0" indent="0">
              <a:buNone/>
            </a:pPr>
            <a:r>
              <a:rPr lang="en-US" sz="1200" dirty="0">
                <a:solidFill>
                  <a:schemeClr val="tx1"/>
                </a:solidFill>
                <a:latin typeface="Courier New" pitchFamily="34" charset="0"/>
                <a:ea typeface="Courier New" pitchFamily="34" charset="-122"/>
                <a:cs typeface="Courier New" pitchFamily="34" charset="-120"/>
              </a:rPr>
              <a:t>CIN [ATLIQ_PVT_LTD_CIN], registered office at [ATLIQ_PVT_LTD_ADDRESS]</a:t>
            </a:r>
            <a:endParaRPr lang="en-US" sz="1200" dirty="0"/>
          </a:p>
        </p:txBody>
      </p:sp>
      <p:sp>
        <p:nvSpPr>
          <p:cNvPr id="15" name="Text 11"/>
          <p:cNvSpPr txBox="1"/>
          <p:nvPr/>
        </p:nvSpPr>
        <p:spPr>
          <a:xfrm>
            <a:off x="7955280" y="4846320"/>
            <a:ext cx="3474720"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Patient records in a contract are removed before the AI reads it</a:t>
            </a:r>
            <a:endParaRPr lang="en-US" sz="1400" dirty="0"/>
          </a:p>
          <a:p>
            <a:pPr marL="342900" indent="-342900">
              <a:spcAft>
                <a:spcPts val="400"/>
              </a:spcAft>
              <a:buSzPct val="100000"/>
              <a:buChar char="•"/>
            </a:pPr>
            <a:r>
              <a:rPr lang="en-US" sz="1400" dirty="0">
                <a:solidFill>
                  <a:schemeClr val="tx1"/>
                </a:solidFill>
                <a:latin typeface="Calibri" pitchFamily="34" charset="0"/>
                <a:ea typeface="Calibri" pitchFamily="34" charset="-122"/>
                <a:cs typeface="Calibri" pitchFamily="34" charset="-120"/>
              </a:rPr>
              <a:t>“What left AtliQ” shows the exact text</a:t>
            </a:r>
            <a:endParaRPr lang="en-US" sz="1400" dirty="0"/>
          </a:p>
          <a:p>
            <a:pPr marL="342900" indent="-342900">
              <a:spcAft>
                <a:spcPts val="400"/>
              </a:spcAft>
              <a:buSzPct val="100000"/>
              <a:buChar char="•"/>
            </a:pPr>
            <a:r>
              <a:rPr lang="en-US" sz="1400" b="1" dirty="0">
                <a:solidFill>
                  <a:schemeClr val="tx1"/>
                </a:solidFill>
                <a:latin typeface="Calibri" pitchFamily="34" charset="0"/>
                <a:ea typeface="Calibri" pitchFamily="34" charset="-122"/>
                <a:cs typeface="Calibri" pitchFamily="34" charset="-120"/>
              </a:rPr>
              <a:t>0 leaks across 40 tests</a:t>
            </a:r>
            <a:endParaRPr lang="en-US" sz="1400" dirty="0"/>
          </a:p>
        </p:txBody>
      </p:sp>
      <p:sp>
        <p:nvSpPr>
          <p:cNvPr id="25"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329184"/>
          </a:xfrm>
          <a:prstGeom prst="rect">
            <a:avLst/>
          </a:prstGeom>
          <a:noFill/>
          <a:ln/>
        </p:spPr>
        <p:txBody>
          <a:bodyPr wrap="square" lIns="0" tIns="0" rIns="0" bIns="0" rtlCol="0"/>
          <a:lstStyle/>
          <a:p>
            <a:pPr marL="0" indent="0">
              <a:buNone/>
            </a:pPr>
            <a:r>
              <a:rPr lang="en-US" sz="1200" b="1" dirty="0">
                <a:solidFill>
                  <a:schemeClr val="accent1"/>
                </a:solidFill>
                <a:latin typeface="Calibri" pitchFamily="34" charset="0"/>
                <a:ea typeface="Calibri" pitchFamily="34" charset="-122"/>
                <a:cs typeface="Calibri" pitchFamily="34" charset="-120"/>
              </a:rPr>
              <a:t>WALKTHROUGH 4 OF 4 · AFTER YOU SIGN</a:t>
            </a:r>
            <a:endParaRPr lang="en-US" sz="1200" dirty="0"/>
          </a:p>
        </p:txBody>
      </p:sp>
      <p:sp>
        <p:nvSpPr>
          <p:cNvPr id="3" name="Text 0"/>
          <p:cNvSpPr>
            <a:spLocks noGrp="1"/>
          </p:cNvSpPr>
          <p:nvPr>
            <p:ph type="title" idx="101" hasCustomPrompt="1"/>
          </p:nvPr>
        </p:nvSpPr>
        <p:spPr>
          <a:xfrm>
            <a:off x="548640" y="603504"/>
            <a:ext cx="11064240" cy="868680"/>
          </a:xfrm>
          <a:prstGeom prst="rect">
            <a:avLst/>
          </a:prstGeom>
          <a:noFill/>
          <a:ln/>
        </p:spPr>
        <p:txBody>
          <a:bodyPr wrap="square" lIns="0" tIns="0" rIns="0" bIns="0" rtlCol="0" anchor="t"/>
          <a:lstStyle/>
          <a:p>
            <a:pPr marL="0" indent="0" algn="l">
              <a:buNone/>
            </a:pPr>
            <a:r>
              <a:rPr lang="en-US" sz="3000" b="1" dirty="0">
                <a:solidFill>
                  <a:schemeClr val="tx2"/>
                </a:solidFill>
                <a:latin typeface="Cambria" pitchFamily="34" charset="0"/>
                <a:ea typeface="Cambria" pitchFamily="34" charset="-122"/>
                <a:cs typeface="Cambria" pitchFamily="34" charset="-120"/>
              </a:rPr>
              <a:t>After signing: one history, invoices from the right entity</a:t>
            </a:r>
            <a:endParaRPr lang="en-US" sz="3000" dirty="0"/>
          </a:p>
        </p:txBody>
      </p:sp>
      <p:sp>
        <p:nvSpPr>
          <p:cNvPr id="4" name="shot-frame"/>
          <p:cNvSpPr/>
          <p:nvPr/>
        </p:nvSpPr>
        <p:spPr>
          <a:xfrm>
            <a:off x="530352" y="1581912"/>
            <a:ext cx="5522976" cy="2578608"/>
          </a:xfrm>
          <a:prstGeom prst="rect">
            <a:avLst/>
          </a:prstGeom>
          <a:solidFill>
            <a:srgbClr val="D5DCE6"/>
          </a:solidFill>
          <a:ln w="12700">
            <a:solidFill>
              <a:srgbClr val="D5DCE6"/>
            </a:solidFill>
            <a:prstDash val="solid"/>
          </a:ln>
          <a:effectLst>
            <a:outerShdw blurRad="101600" dist="38100" dir="5400000" algn="bl" rotWithShape="0">
              <a:srgbClr val="1C2431">
                <a:alpha val="18000"/>
              </a:srgbClr>
            </a:outerShdw>
          </a:effectLst>
        </p:spPr>
      </p:sp>
      <p:pic>
        <p:nvPicPr>
          <p:cNvPr id="5" name="screenshot-history_crop.png" descr="/tmp/claude-0/deck/shots/history_crop.png"/>
          <p:cNvPicPr>
            <a:picLocks noChangeAspect="1"/>
          </p:cNvPicPr>
          <p:nvPr/>
        </p:nvPicPr>
        <p:blipFill>
          <a:blip r:embed="rId3"/>
          <a:stretch>
            <a:fillRect/>
          </a:stretch>
        </p:blipFill>
        <p:spPr>
          <a:xfrm>
            <a:off x="548640" y="1600200"/>
            <a:ext cx="5486400" cy="2542032"/>
          </a:xfrm>
          <a:prstGeom prst="rect">
            <a:avLst/>
          </a:prstGeom>
        </p:spPr>
      </p:pic>
      <p:sp>
        <p:nvSpPr>
          <p:cNvPr id="6" name="Text 3"/>
          <p:cNvSpPr txBox="1"/>
          <p:nvPr/>
        </p:nvSpPr>
        <p:spPr>
          <a:xfrm>
            <a:off x="548640" y="4343400"/>
            <a:ext cx="548640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Signed Contract History</a:t>
            </a:r>
            <a:endParaRPr lang="en-US" sz="1600" dirty="0"/>
          </a:p>
        </p:txBody>
      </p:sp>
      <p:sp>
        <p:nvSpPr>
          <p:cNvPr id="7" name="Text 4"/>
          <p:cNvSpPr txBox="1"/>
          <p:nvPr/>
        </p:nvSpPr>
        <p:spPr>
          <a:xfrm>
            <a:off x="548640" y="4709160"/>
            <a:ext cx="5486400" cy="91440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Every signed contract with its date, expiry, AtliQ entity and register entries. New signatures feed the register automatically.</a:t>
            </a:r>
            <a:endParaRPr lang="en-US" sz="1400" dirty="0"/>
          </a:p>
        </p:txBody>
      </p:sp>
      <p:sp>
        <p:nvSpPr>
          <p:cNvPr id="8" name="shot-frame"/>
          <p:cNvSpPr/>
          <p:nvPr/>
        </p:nvSpPr>
        <p:spPr>
          <a:xfrm>
            <a:off x="6336792" y="1581912"/>
            <a:ext cx="5294376" cy="2084832"/>
          </a:xfrm>
          <a:prstGeom prst="rect">
            <a:avLst/>
          </a:prstGeom>
          <a:solidFill>
            <a:srgbClr val="D5DCE6"/>
          </a:solidFill>
          <a:ln w="12700">
            <a:solidFill>
              <a:srgbClr val="D5DCE6"/>
            </a:solidFill>
            <a:prstDash val="solid"/>
          </a:ln>
          <a:effectLst>
            <a:outerShdw blurRad="101600" dist="38100" dir="5400000" algn="bl" rotWithShape="0">
              <a:srgbClr val="1C2431">
                <a:alpha val="18000"/>
              </a:srgbClr>
            </a:outerShdw>
          </a:effectLst>
        </p:spPr>
      </p:sp>
      <p:pic>
        <p:nvPicPr>
          <p:cNvPr id="9" name="screenshot-invoice_panel.png" descr="/tmp/claude-0/deck/shots/invoice_panel.png"/>
          <p:cNvPicPr>
            <a:picLocks noChangeAspect="1"/>
          </p:cNvPicPr>
          <p:nvPr/>
        </p:nvPicPr>
        <p:blipFill>
          <a:blip r:embed="rId4"/>
          <a:stretch>
            <a:fillRect/>
          </a:stretch>
        </p:blipFill>
        <p:spPr>
          <a:xfrm>
            <a:off x="6355080" y="1600200"/>
            <a:ext cx="5257800" cy="2048256"/>
          </a:xfrm>
          <a:prstGeom prst="rect">
            <a:avLst/>
          </a:prstGeom>
        </p:spPr>
      </p:pic>
      <p:sp>
        <p:nvSpPr>
          <p:cNvPr id="10" name="Text 6"/>
          <p:cNvSpPr txBox="1"/>
          <p:nvPr/>
        </p:nvSpPr>
        <p:spPr>
          <a:xfrm>
            <a:off x="6355080" y="4343400"/>
            <a:ext cx="525780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Invoice setup</a:t>
            </a:r>
            <a:endParaRPr lang="en-US" sz="1600" dirty="0"/>
          </a:p>
        </p:txBody>
      </p:sp>
      <p:sp>
        <p:nvSpPr>
          <p:cNvPr id="11" name="Text 7"/>
          <p:cNvSpPr txBox="1"/>
          <p:nvPr/>
        </p:nvSpPr>
        <p:spPr>
          <a:xfrm>
            <a:off x="6355080" y="4709160"/>
            <a:ext cx="525780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US clients are invoiced by AtliQ Inc; everyone else by AtliQ Technologies Pvt Ltd. ACA warns when a contract names the other entity, which delayed payments twice in 2025.</a:t>
            </a:r>
            <a:endParaRPr lang="en-US" sz="1400" dirty="0"/>
          </a:p>
        </p:txBody>
      </p:sp>
      <p:sp>
        <p:nvSpPr>
          <p:cNvPr id="25"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329184"/>
          </a:xfrm>
          <a:prstGeom prst="rect">
            <a:avLst/>
          </a:prstGeom>
          <a:noFill/>
          <a:ln/>
        </p:spPr>
        <p:txBody>
          <a:bodyPr wrap="square" lIns="0" tIns="0" rIns="0" bIns="0" rtlCol="0"/>
          <a:lstStyle/>
          <a:p>
            <a:pPr marL="0" indent="0">
              <a:buNone/>
            </a:pPr>
            <a:r>
              <a:rPr lang="en-US" sz="1200" b="1" dirty="0">
                <a:solidFill>
                  <a:schemeClr val="accent1"/>
                </a:solidFill>
                <a:latin typeface="Calibri" pitchFamily="34" charset="0"/>
                <a:ea typeface="Calibri" pitchFamily="34" charset="-122"/>
                <a:cs typeface="Calibri" pitchFamily="34" charset="-120"/>
              </a:rPr>
              <a:t>HOW IT HANDLES EDGE CASES</a:t>
            </a:r>
            <a:endParaRPr lang="en-US" sz="1200" dirty="0"/>
          </a:p>
        </p:txBody>
      </p:sp>
      <p:sp>
        <p:nvSpPr>
          <p:cNvPr id="3" name="Text 0"/>
          <p:cNvSpPr>
            <a:spLocks noGrp="1"/>
          </p:cNvSpPr>
          <p:nvPr>
            <p:ph type="title" idx="101" hasCustomPrompt="1"/>
          </p:nvPr>
        </p:nvSpPr>
        <p:spPr>
          <a:xfrm>
            <a:off x="548640" y="603504"/>
            <a:ext cx="11064240" cy="868680"/>
          </a:xfrm>
          <a:prstGeom prst="rect">
            <a:avLst/>
          </a:prstGeom>
          <a:noFill/>
          <a:ln/>
        </p:spPr>
        <p:txBody>
          <a:bodyPr wrap="square" lIns="0" tIns="0" rIns="0" bIns="0" rtlCol="0" anchor="t"/>
          <a:lstStyle/>
          <a:p>
            <a:pPr marL="0" indent="0" algn="l">
              <a:buNone/>
            </a:pPr>
            <a:r>
              <a:rPr lang="en-US" sz="3000" b="1" dirty="0">
                <a:solidFill>
                  <a:schemeClr val="tx2"/>
                </a:solidFill>
                <a:latin typeface="Cambria" pitchFamily="34" charset="0"/>
                <a:ea typeface="Cambria" pitchFamily="34" charset="-122"/>
                <a:cs typeface="Cambria" pitchFamily="34" charset="-120"/>
              </a:rPr>
              <a:t>We tried to break it with 25 contracts written to fool it</a:t>
            </a:r>
            <a:endParaRPr lang="en-US" sz="3000" dirty="0"/>
          </a:p>
        </p:txBody>
      </p:sp>
      <p:sp>
        <p:nvSpPr>
          <p:cNvPr id="4" name="group-0"/>
          <p:cNvSpPr/>
          <p:nvPr/>
        </p:nvSpPr>
        <p:spPr>
          <a:xfrm>
            <a:off x="548640" y="1691640"/>
            <a:ext cx="3520440" cy="2057400"/>
          </a:xfrm>
          <a:prstGeom prst="roundRect">
            <a:avLst>
              <a:gd name="adj" fmla="val 3556"/>
            </a:avLst>
          </a:prstGeom>
          <a:solidFill>
            <a:schemeClr val="bg2"/>
          </a:solidFill>
          <a:ln w="12700">
            <a:solidFill>
              <a:schemeClr val="bg2"/>
            </a:solidFill>
            <a:prstDash val="solid"/>
          </a:ln>
        </p:spPr>
      </p:sp>
      <p:sp>
        <p:nvSpPr>
          <p:cNvPr id="5" name="Text 3"/>
          <p:cNvSpPr txBox="1"/>
          <p:nvPr/>
        </p:nvSpPr>
        <p:spPr>
          <a:xfrm>
            <a:off x="777240" y="1874520"/>
            <a:ext cx="310896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Hidden conflicts</a:t>
            </a:r>
            <a:endParaRPr lang="en-US" sz="1600" dirty="0"/>
          </a:p>
        </p:txBody>
      </p:sp>
      <p:sp>
        <p:nvSpPr>
          <p:cNvPr id="6" name="Text 4"/>
          <p:cNvSpPr txBox="1"/>
          <p:nvPr/>
        </p:nvSpPr>
        <p:spPr>
          <a:xfrm>
            <a:off x="777240" y="2240280"/>
            <a:ext cx="3108960" cy="457200"/>
          </a:xfrm>
          <a:prstGeom prst="rect">
            <a:avLst/>
          </a:prstGeom>
          <a:noFill/>
          <a:ln/>
        </p:spPr>
        <p:txBody>
          <a:bodyPr wrap="square" lIns="0" tIns="0" rIns="0" bIns="0" rtlCol="0" anchor="t"/>
          <a:lstStyle/>
          <a:p>
            <a:pPr marL="0" indent="0">
              <a:buNone/>
            </a:pPr>
            <a:r>
              <a:rPr lang="en-US" sz="2200" b="1" dirty="0">
                <a:solidFill>
                  <a:schemeClr val="accent4"/>
                </a:solidFill>
                <a:latin typeface="Cambria" pitchFamily="34" charset="0"/>
                <a:ea typeface="Cambria" pitchFamily="34" charset="-122"/>
                <a:cs typeface="Cambria" pitchFamily="34" charset="-120"/>
              </a:rPr>
              <a:t>4 / 4 caught</a:t>
            </a:r>
            <a:endParaRPr lang="en-US" sz="2200" dirty="0"/>
          </a:p>
        </p:txBody>
      </p:sp>
      <p:sp>
        <p:nvSpPr>
          <p:cNvPr id="7" name="Text 5"/>
          <p:cNvSpPr txBox="1"/>
          <p:nvPr/>
        </p:nvSpPr>
        <p:spPr>
          <a:xfrm>
            <a:off x="777240" y="2743200"/>
            <a:ext cx="3108960" cy="9601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GCC hotels only in an annex · hotel group behind a real-estate company · Crestline undercut via free hours</a:t>
            </a:r>
            <a:endParaRPr lang="en-US" sz="1300" dirty="0"/>
          </a:p>
        </p:txBody>
      </p:sp>
      <p:sp>
        <p:nvSpPr>
          <p:cNvPr id="8" name="group-1"/>
          <p:cNvSpPr/>
          <p:nvPr/>
        </p:nvSpPr>
        <p:spPr>
          <a:xfrm>
            <a:off x="4251960" y="1691640"/>
            <a:ext cx="3520440" cy="2057400"/>
          </a:xfrm>
          <a:prstGeom prst="roundRect">
            <a:avLst>
              <a:gd name="adj" fmla="val 3556"/>
            </a:avLst>
          </a:prstGeom>
          <a:solidFill>
            <a:schemeClr val="bg2"/>
          </a:solidFill>
          <a:ln w="12700">
            <a:solidFill>
              <a:schemeClr val="bg2"/>
            </a:solidFill>
            <a:prstDash val="solid"/>
          </a:ln>
        </p:spPr>
      </p:sp>
      <p:sp>
        <p:nvSpPr>
          <p:cNvPr id="9" name="Text 7"/>
          <p:cNvSpPr txBox="1"/>
          <p:nvPr/>
        </p:nvSpPr>
        <p:spPr>
          <a:xfrm>
            <a:off x="4480560" y="1874520"/>
            <a:ext cx="310896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Must not flag</a:t>
            </a:r>
            <a:endParaRPr lang="en-US" sz="1600" dirty="0"/>
          </a:p>
        </p:txBody>
      </p:sp>
      <p:sp>
        <p:nvSpPr>
          <p:cNvPr id="10" name="Text 8"/>
          <p:cNvSpPr txBox="1"/>
          <p:nvPr/>
        </p:nvSpPr>
        <p:spPr>
          <a:xfrm>
            <a:off x="4480560" y="2240280"/>
            <a:ext cx="3108960" cy="457200"/>
          </a:xfrm>
          <a:prstGeom prst="rect">
            <a:avLst/>
          </a:prstGeom>
          <a:noFill/>
          <a:ln/>
        </p:spPr>
        <p:txBody>
          <a:bodyPr wrap="square" lIns="0" tIns="0" rIns="0" bIns="0" rtlCol="0" anchor="t"/>
          <a:lstStyle/>
          <a:p>
            <a:pPr marL="0" indent="0">
              <a:buNone/>
            </a:pPr>
            <a:r>
              <a:rPr lang="en-US" sz="2200" b="1" dirty="0">
                <a:solidFill>
                  <a:schemeClr val="accent4"/>
                </a:solidFill>
                <a:latin typeface="Cambria" pitchFamily="34" charset="0"/>
                <a:ea typeface="Cambria" pitchFamily="34" charset="-122"/>
                <a:cs typeface="Cambria" pitchFamily="34" charset="-120"/>
              </a:rPr>
              <a:t>4 / 4 left alone</a:t>
            </a:r>
            <a:endParaRPr lang="en-US" sz="2200" dirty="0"/>
          </a:p>
        </p:txBody>
      </p:sp>
      <p:sp>
        <p:nvSpPr>
          <p:cNvPr id="11" name="Text 9"/>
          <p:cNvSpPr txBox="1"/>
          <p:nvPr/>
        </p:nvSpPr>
        <p:spPr>
          <a:xfrm>
            <a:off x="4480560" y="2743200"/>
            <a:ext cx="3108960" cy="9601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Orbit's expired non-compete · Europe-only platform · de-identified health data · clean long MSA</a:t>
            </a:r>
            <a:endParaRPr lang="en-US" sz="1300" dirty="0"/>
          </a:p>
        </p:txBody>
      </p:sp>
      <p:sp>
        <p:nvSpPr>
          <p:cNvPr id="12" name="group-2"/>
          <p:cNvSpPr/>
          <p:nvPr/>
        </p:nvSpPr>
        <p:spPr>
          <a:xfrm>
            <a:off x="548640" y="3931920"/>
            <a:ext cx="3520440" cy="2057400"/>
          </a:xfrm>
          <a:prstGeom prst="roundRect">
            <a:avLst>
              <a:gd name="adj" fmla="val 3556"/>
            </a:avLst>
          </a:prstGeom>
          <a:solidFill>
            <a:schemeClr val="bg2"/>
          </a:solidFill>
          <a:ln w="12700">
            <a:solidFill>
              <a:schemeClr val="bg2"/>
            </a:solidFill>
            <a:prstDash val="solid"/>
          </a:ln>
        </p:spPr>
      </p:sp>
      <p:sp>
        <p:nvSpPr>
          <p:cNvPr id="13" name="Text 11"/>
          <p:cNvSpPr txBox="1"/>
          <p:nvPr/>
        </p:nvSpPr>
        <p:spPr>
          <a:xfrm>
            <a:off x="777240" y="4114800"/>
            <a:ext cx="310896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Disguised terms</a:t>
            </a:r>
            <a:endParaRPr lang="en-US" sz="1600" dirty="0"/>
          </a:p>
        </p:txBody>
      </p:sp>
      <p:sp>
        <p:nvSpPr>
          <p:cNvPr id="14" name="Text 12"/>
          <p:cNvSpPr txBox="1"/>
          <p:nvPr/>
        </p:nvSpPr>
        <p:spPr>
          <a:xfrm>
            <a:off x="777240" y="4480560"/>
            <a:ext cx="3108960" cy="457200"/>
          </a:xfrm>
          <a:prstGeom prst="rect">
            <a:avLst/>
          </a:prstGeom>
          <a:noFill/>
          <a:ln/>
        </p:spPr>
        <p:txBody>
          <a:bodyPr wrap="square" lIns="0" tIns="0" rIns="0" bIns="0" rtlCol="0" anchor="t"/>
          <a:lstStyle/>
          <a:p>
            <a:pPr marL="0" indent="0">
              <a:buNone/>
            </a:pPr>
            <a:r>
              <a:rPr lang="en-US" sz="2200" b="1" dirty="0">
                <a:solidFill>
                  <a:schemeClr val="accent4"/>
                </a:solidFill>
                <a:latin typeface="Cambria" pitchFamily="34" charset="0"/>
                <a:ea typeface="Cambria" pitchFamily="34" charset="-122"/>
                <a:cs typeface="Cambria" pitchFamily="34" charset="-120"/>
              </a:rPr>
              <a:t>6 / 6 caught</a:t>
            </a:r>
            <a:endParaRPr lang="en-US" sz="2200" dirty="0"/>
          </a:p>
        </p:txBody>
      </p:sp>
      <p:sp>
        <p:nvSpPr>
          <p:cNvPr id="15" name="Text 13"/>
          <p:cNvSpPr txBox="1"/>
          <p:nvPr/>
        </p:nvSpPr>
        <p:spPr>
          <a:xfrm>
            <a:off x="777240" y="4983480"/>
            <a:ext cx="3108960" cy="9601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Penalty renamed “service credits” · carve-outs that empty the cap · “mutual” NDA with one-way clauses</a:t>
            </a:r>
            <a:endParaRPr lang="en-US" sz="1300" dirty="0"/>
          </a:p>
        </p:txBody>
      </p:sp>
      <p:sp>
        <p:nvSpPr>
          <p:cNvPr id="16" name="group-3"/>
          <p:cNvSpPr/>
          <p:nvPr/>
        </p:nvSpPr>
        <p:spPr>
          <a:xfrm>
            <a:off x="4251960" y="3931920"/>
            <a:ext cx="3520440" cy="2057400"/>
          </a:xfrm>
          <a:prstGeom prst="roundRect">
            <a:avLst>
              <a:gd name="adj" fmla="val 3556"/>
            </a:avLst>
          </a:prstGeom>
          <a:solidFill>
            <a:schemeClr val="bg2"/>
          </a:solidFill>
          <a:ln w="12700">
            <a:solidFill>
              <a:schemeClr val="bg2"/>
            </a:solidFill>
            <a:prstDash val="solid"/>
          </a:ln>
        </p:spPr>
      </p:sp>
      <p:sp>
        <p:nvSpPr>
          <p:cNvPr id="17" name="Text 15"/>
          <p:cNvSpPr txBox="1"/>
          <p:nvPr/>
        </p:nvSpPr>
        <p:spPr>
          <a:xfrm>
            <a:off x="4480560" y="4114800"/>
            <a:ext cx="310896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Robustness and safety</a:t>
            </a:r>
            <a:endParaRPr lang="en-US" sz="1600" dirty="0"/>
          </a:p>
        </p:txBody>
      </p:sp>
      <p:sp>
        <p:nvSpPr>
          <p:cNvPr id="18" name="Text 16"/>
          <p:cNvSpPr txBox="1"/>
          <p:nvPr/>
        </p:nvSpPr>
        <p:spPr>
          <a:xfrm>
            <a:off x="4480560" y="4480560"/>
            <a:ext cx="3108960" cy="457200"/>
          </a:xfrm>
          <a:prstGeom prst="rect">
            <a:avLst/>
          </a:prstGeom>
          <a:noFill/>
          <a:ln/>
        </p:spPr>
        <p:txBody>
          <a:bodyPr wrap="square" lIns="0" tIns="0" rIns="0" bIns="0" rtlCol="0" anchor="t"/>
          <a:lstStyle/>
          <a:p>
            <a:pPr marL="0" indent="0">
              <a:buNone/>
            </a:pPr>
            <a:r>
              <a:rPr lang="en-US" sz="2200" b="1" dirty="0">
                <a:solidFill>
                  <a:schemeClr val="accent4"/>
                </a:solidFill>
                <a:latin typeface="Cambria" pitchFamily="34" charset="0"/>
                <a:ea typeface="Cambria" pitchFamily="34" charset="-122"/>
                <a:cs typeface="Cambria" pitchFamily="34" charset="-120"/>
              </a:rPr>
              <a:t>7 / 7 handled</a:t>
            </a:r>
            <a:endParaRPr lang="en-US" sz="2200" dirty="0"/>
          </a:p>
        </p:txBody>
      </p:sp>
      <p:sp>
        <p:nvSpPr>
          <p:cNvPr id="19" name="Text 17"/>
          <p:cNvSpPr txBox="1"/>
          <p:nvPr/>
        </p:nvSpPr>
        <p:spPr>
          <a:xfrm>
            <a:off x="4480560" y="4983480"/>
            <a:ext cx="3108960" cy="9601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Hidden instructions to the AI · SSN and bank numbers · OCR errors · invoice uploaded by mistake</a:t>
            </a:r>
            <a:endParaRPr lang="en-US" sz="1300" dirty="0"/>
          </a:p>
        </p:txBody>
      </p:sp>
      <p:sp>
        <p:nvSpPr>
          <p:cNvPr id="20" name="score-card"/>
          <p:cNvSpPr/>
          <p:nvPr/>
        </p:nvSpPr>
        <p:spPr>
          <a:xfrm>
            <a:off x="8138160" y="1691640"/>
            <a:ext cx="3474720" cy="4297680"/>
          </a:xfrm>
          <a:prstGeom prst="roundRect">
            <a:avLst>
              <a:gd name="adj" fmla="val 2105"/>
            </a:avLst>
          </a:prstGeom>
          <a:solidFill>
            <a:schemeClr val="tx2"/>
          </a:solidFill>
          <a:ln w="12700">
            <a:solidFill>
              <a:schemeClr val="tx2"/>
            </a:solidFill>
            <a:prstDash val="solid"/>
          </a:ln>
        </p:spPr>
      </p:sp>
      <p:sp>
        <p:nvSpPr>
          <p:cNvPr id="21" name="Text 19"/>
          <p:cNvSpPr txBox="1"/>
          <p:nvPr/>
        </p:nvSpPr>
        <p:spPr>
          <a:xfrm>
            <a:off x="8366760" y="1874520"/>
            <a:ext cx="3017520" cy="914400"/>
          </a:xfrm>
          <a:prstGeom prst="rect">
            <a:avLst/>
          </a:prstGeom>
          <a:noFill/>
          <a:ln/>
        </p:spPr>
        <p:txBody>
          <a:bodyPr wrap="square" lIns="0" tIns="0" rIns="0" bIns="0" rtlCol="0" anchor="t"/>
          <a:lstStyle/>
          <a:p>
            <a:pPr marL="0" indent="0">
              <a:buNone/>
            </a:pPr>
            <a:r>
              <a:rPr lang="en-US" sz="5400" b="1" dirty="0">
                <a:solidFill>
                  <a:schemeClr val="accent2"/>
                </a:solidFill>
                <a:latin typeface="Cambria" pitchFamily="34" charset="0"/>
                <a:ea typeface="Cambria" pitchFamily="34" charset="-122"/>
                <a:cs typeface="Cambria" pitchFamily="34" charset="-120"/>
              </a:rPr>
              <a:t>40 / 40</a:t>
            </a:r>
            <a:endParaRPr lang="en-US" sz="5400" dirty="0"/>
          </a:p>
        </p:txBody>
      </p:sp>
      <p:sp>
        <p:nvSpPr>
          <p:cNvPr id="22" name="Text 20"/>
          <p:cNvSpPr txBox="1"/>
          <p:nvPr/>
        </p:nvSpPr>
        <p:spPr>
          <a:xfrm>
            <a:off x="8366760" y="2788920"/>
            <a:ext cx="3017520" cy="731520"/>
          </a:xfrm>
          <a:prstGeom prst="rect">
            <a:avLst/>
          </a:prstGeom>
          <a:noFill/>
          <a:ln/>
        </p:spPr>
        <p:txBody>
          <a:bodyPr wrap="square" lIns="0" tIns="0" rIns="0" bIns="0" rtlCol="0" anchor="t"/>
          <a:lstStyle/>
          <a:p>
            <a:pPr marL="0" indent="0">
              <a:buNone/>
            </a:pPr>
            <a:r>
              <a:rPr lang="en-US" sz="1400" dirty="0">
                <a:solidFill>
                  <a:schemeClr val="bg1"/>
                </a:solidFill>
                <a:latin typeface="Calibri" pitchFamily="34" charset="0"/>
                <a:ea typeface="Calibri" pitchFamily="34" charset="-122"/>
                <a:cs typeface="Calibri" pitchFamily="34" charset="-120"/>
              </a:rPr>
              <a:t>test contracts with the expected result, including your 15 drafts</a:t>
            </a:r>
            <a:endParaRPr lang="en-US" sz="1400" dirty="0"/>
          </a:p>
        </p:txBody>
      </p:sp>
      <p:sp>
        <p:nvSpPr>
          <p:cNvPr id="23" name="Text 21"/>
          <p:cNvSpPr txBox="1"/>
          <p:nvPr/>
        </p:nvSpPr>
        <p:spPr>
          <a:xfrm>
            <a:off x="8366760" y="3657600"/>
            <a:ext cx="3063240" cy="2103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latin typeface="Calibri" pitchFamily="34" charset="0"/>
                <a:ea typeface="Calibri" pitchFamily="34" charset="-122"/>
                <a:cs typeface="Calibri" pitchFamily="34" charset="-120"/>
              </a:rPr>
              <a:t>10 / 10 hidden conflicts caught</a:t>
            </a:r>
            <a:endParaRPr lang="en-US" sz="1400" dirty="0"/>
          </a:p>
          <a:p>
            <a:pPr marL="342900" indent="-342900">
              <a:spcAft>
                <a:spcPts val="600"/>
              </a:spcAft>
              <a:buSzPct val="100000"/>
              <a:buChar char="•"/>
            </a:pPr>
            <a:r>
              <a:rPr lang="en-US" sz="1400" dirty="0">
                <a:solidFill>
                  <a:schemeClr val="bg1"/>
                </a:solidFill>
                <a:latin typeface="Calibri" pitchFamily="34" charset="0"/>
                <a:ea typeface="Calibri" pitchFamily="34" charset="-122"/>
                <a:cs typeface="Calibri" pitchFamily="34" charset="-120"/>
              </a:rPr>
              <a:t>0 clean contracts over-flagged</a:t>
            </a:r>
            <a:endParaRPr lang="en-US" sz="1400" dirty="0"/>
          </a:p>
          <a:p>
            <a:pPr marL="342900" indent="-342900">
              <a:spcAft>
                <a:spcPts val="600"/>
              </a:spcAft>
              <a:buSzPct val="100000"/>
              <a:buChar char="•"/>
            </a:pPr>
            <a:r>
              <a:rPr lang="en-US" sz="1400" dirty="0">
                <a:solidFill>
                  <a:schemeClr val="bg1"/>
                </a:solidFill>
                <a:latin typeface="Calibri" pitchFamily="34" charset="0"/>
                <a:ea typeface="Calibri" pitchFamily="34" charset="-122"/>
                <a:cs typeface="Calibri" pitchFamily="34" charset="-120"/>
              </a:rPr>
              <a:t>2 bugs found and fixed before this meeting</a:t>
            </a:r>
            <a:endParaRPr lang="en-US" sz="1400" dirty="0"/>
          </a:p>
        </p:txBody>
      </p:sp>
      <p:sp>
        <p:nvSpPr>
          <p:cNvPr id="25"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329184"/>
          </a:xfrm>
          <a:prstGeom prst="rect">
            <a:avLst/>
          </a:prstGeom>
          <a:noFill/>
          <a:ln/>
        </p:spPr>
        <p:txBody>
          <a:bodyPr wrap="square" lIns="0" tIns="0" rIns="0" bIns="0" rtlCol="0"/>
          <a:lstStyle/>
          <a:p>
            <a:pPr marL="0" indent="0">
              <a:buNone/>
            </a:pPr>
            <a:r>
              <a:rPr lang="en-US" sz="1200" b="1" dirty="0">
                <a:solidFill>
                  <a:schemeClr val="accent1"/>
                </a:solidFill>
                <a:latin typeface="Calibri" pitchFamily="34" charset="0"/>
                <a:ea typeface="Calibri" pitchFamily="34" charset="-122"/>
                <a:cs typeface="Calibri" pitchFamily="34" charset="-120"/>
              </a:rPr>
              <a:t>HOW WE'LL KNOW IT WORKS</a:t>
            </a:r>
            <a:endParaRPr lang="en-US" sz="1200" dirty="0"/>
          </a:p>
        </p:txBody>
      </p:sp>
      <p:sp>
        <p:nvSpPr>
          <p:cNvPr id="3" name="Text 0"/>
          <p:cNvSpPr>
            <a:spLocks noGrp="1"/>
          </p:cNvSpPr>
          <p:nvPr>
            <p:ph type="title" idx="101" hasCustomPrompt="1"/>
          </p:nvPr>
        </p:nvSpPr>
        <p:spPr>
          <a:xfrm>
            <a:off x="548640" y="603504"/>
            <a:ext cx="11064240" cy="868680"/>
          </a:xfrm>
          <a:prstGeom prst="rect">
            <a:avLst/>
          </a:prstGeom>
          <a:noFill/>
          <a:ln/>
        </p:spPr>
        <p:txBody>
          <a:bodyPr wrap="square" lIns="0" tIns="0" rIns="0" bIns="0" rtlCol="0" anchor="t"/>
          <a:lstStyle/>
          <a:p>
            <a:pPr marL="0" indent="0" algn="l">
              <a:buNone/>
            </a:pPr>
            <a:r>
              <a:rPr lang="en-US" sz="3000" b="1" dirty="0">
                <a:solidFill>
                  <a:schemeClr val="tx2"/>
                </a:solidFill>
                <a:latin typeface="Cambria" pitchFamily="34" charset="0"/>
                <a:ea typeface="Cambria" pitchFamily="34" charset="-122"/>
                <a:cs typeface="Cambria" pitchFamily="34" charset="-120"/>
              </a:rPr>
              <a:t>One North Star: your review hours saved each month</a:t>
            </a:r>
            <a:endParaRPr lang="en-US" sz="3000" dirty="0"/>
          </a:p>
        </p:txBody>
      </p:sp>
      <p:sp>
        <p:nvSpPr>
          <p:cNvPr id="4" name="northstar-card"/>
          <p:cNvSpPr/>
          <p:nvPr/>
        </p:nvSpPr>
        <p:spPr>
          <a:xfrm>
            <a:off x="548640" y="1691640"/>
            <a:ext cx="4663440" cy="4297680"/>
          </a:xfrm>
          <a:prstGeom prst="roundRect">
            <a:avLst>
              <a:gd name="adj" fmla="val 1702"/>
            </a:avLst>
          </a:prstGeom>
          <a:solidFill>
            <a:schemeClr val="tx2"/>
          </a:solidFill>
          <a:ln w="12700">
            <a:solidFill>
              <a:schemeClr val="tx2"/>
            </a:solidFill>
            <a:prstDash val="solid"/>
          </a:ln>
        </p:spPr>
      </p:sp>
      <p:sp>
        <p:nvSpPr>
          <p:cNvPr id="5" name="icon-circle"/>
          <p:cNvSpPr/>
          <p:nvPr/>
        </p:nvSpPr>
        <p:spPr>
          <a:xfrm>
            <a:off x="822960" y="1920240"/>
            <a:ext cx="685800" cy="685800"/>
          </a:xfrm>
          <a:prstGeom prst="ellipse">
            <a:avLst/>
          </a:prstGeom>
          <a:solidFill>
            <a:schemeClr val="accent2"/>
          </a:solidFill>
          <a:ln w="12700">
            <a:solidFill>
              <a:schemeClr val="accent2"/>
            </a:solidFill>
            <a:prstDash val="solid"/>
          </a:ln>
        </p:spPr>
      </p:sp>
      <p:pic>
        <p:nvPicPr>
          <p:cNvPr id="6" name="icon-FaStar" descr="preencoded.png"/>
          <p:cNvPicPr>
            <a:picLocks noChangeAspect="1"/>
          </p:cNvPicPr>
          <p:nvPr/>
        </p:nvPicPr>
        <p:blipFill>
          <a:blip r:embed="rId3"/>
          <a:stretch>
            <a:fillRect/>
          </a:stretch>
        </p:blipFill>
        <p:spPr>
          <a:xfrm>
            <a:off x="987552" y="2084832"/>
            <a:ext cx="356616" cy="356616"/>
          </a:xfrm>
          <a:prstGeom prst="rect">
            <a:avLst/>
          </a:prstGeom>
        </p:spPr>
      </p:pic>
      <p:sp>
        <p:nvSpPr>
          <p:cNvPr id="7" name="Text 4"/>
          <p:cNvSpPr txBox="1"/>
          <p:nvPr/>
        </p:nvSpPr>
        <p:spPr>
          <a:xfrm>
            <a:off x="1691640" y="2057400"/>
            <a:ext cx="3200400" cy="320040"/>
          </a:xfrm>
          <a:prstGeom prst="rect">
            <a:avLst/>
          </a:prstGeom>
          <a:noFill/>
          <a:ln/>
        </p:spPr>
        <p:txBody>
          <a:bodyPr wrap="square" lIns="0" tIns="0" rIns="0" bIns="0" rtlCol="0" anchor="t"/>
          <a:lstStyle/>
          <a:p>
            <a:pPr marL="0" indent="0">
              <a:buNone/>
            </a:pPr>
            <a:r>
              <a:rPr lang="en-US" sz="1300" b="1" dirty="0">
                <a:solidFill>
                  <a:schemeClr val="accent2"/>
                </a:solidFill>
                <a:latin typeface="Calibri" pitchFamily="34" charset="0"/>
                <a:ea typeface="Calibri" pitchFamily="34" charset="-122"/>
                <a:cs typeface="Calibri" pitchFamily="34" charset="-120"/>
              </a:rPr>
              <a:t>NORTH STAR</a:t>
            </a:r>
            <a:endParaRPr lang="en-US" sz="1300" dirty="0"/>
          </a:p>
        </p:txBody>
      </p:sp>
      <p:sp>
        <p:nvSpPr>
          <p:cNvPr id="8" name="Text 5"/>
          <p:cNvSpPr txBox="1"/>
          <p:nvPr/>
        </p:nvSpPr>
        <p:spPr>
          <a:xfrm>
            <a:off x="822960" y="2788920"/>
            <a:ext cx="4206240" cy="822960"/>
          </a:xfrm>
          <a:prstGeom prst="rect">
            <a:avLst/>
          </a:prstGeom>
          <a:noFill/>
          <a:ln/>
        </p:spPr>
        <p:txBody>
          <a:bodyPr wrap="square" lIns="0" tIns="0" rIns="0" bIns="0" rtlCol="0" anchor="t"/>
          <a:lstStyle/>
          <a:p>
            <a:pPr marL="0" indent="0">
              <a:buNone/>
            </a:pPr>
            <a:r>
              <a:rPr lang="en-US" sz="4800" b="1" dirty="0">
                <a:solidFill>
                  <a:schemeClr val="bg1"/>
                </a:solidFill>
                <a:latin typeface="Cambria" pitchFamily="34" charset="0"/>
                <a:ea typeface="Cambria" pitchFamily="34" charset="-122"/>
                <a:cs typeface="Cambria" pitchFamily="34" charset="-120"/>
              </a:rPr>
              <a:t>≥ 10 hours</a:t>
            </a:r>
            <a:endParaRPr lang="en-US" sz="4800" dirty="0"/>
          </a:p>
        </p:txBody>
      </p:sp>
      <p:sp>
        <p:nvSpPr>
          <p:cNvPr id="9" name="Text 6"/>
          <p:cNvSpPr txBox="1"/>
          <p:nvPr/>
        </p:nvSpPr>
        <p:spPr>
          <a:xfrm>
            <a:off x="822960" y="3657600"/>
            <a:ext cx="4114800" cy="914400"/>
          </a:xfrm>
          <a:prstGeom prst="rect">
            <a:avLst/>
          </a:prstGeom>
          <a:noFill/>
          <a:ln/>
        </p:spPr>
        <p:txBody>
          <a:bodyPr wrap="square" lIns="0" tIns="0" rIns="0" bIns="0" rtlCol="0" anchor="t"/>
          <a:lstStyle/>
          <a:p>
            <a:pPr marL="0" indent="0">
              <a:buNone/>
            </a:pPr>
            <a:r>
              <a:rPr lang="en-US" sz="1500" dirty="0">
                <a:solidFill>
                  <a:schemeClr val="bg1"/>
                </a:solidFill>
                <a:latin typeface="Calibri" pitchFamily="34" charset="0"/>
                <a:ea typeface="Calibri" pitchFamily="34" charset="-122"/>
                <a:cs typeface="Calibri" pitchFamily="34" charset="-120"/>
              </a:rPr>
              <a:t>of your review time saved every month: from 3–4 hours to under 1 hour per contract (~60%).</a:t>
            </a:r>
            <a:endParaRPr lang="en-US" sz="1500" dirty="0"/>
          </a:p>
        </p:txBody>
      </p:sp>
      <p:sp>
        <p:nvSpPr>
          <p:cNvPr id="10" name="Text 7"/>
          <p:cNvSpPr txBox="1"/>
          <p:nvPr/>
        </p:nvSpPr>
        <p:spPr>
          <a:xfrm>
            <a:off x="822960" y="4800600"/>
            <a:ext cx="4114800" cy="1005840"/>
          </a:xfrm>
          <a:prstGeom prst="rect">
            <a:avLst/>
          </a:prstGeom>
          <a:noFill/>
          <a:ln/>
        </p:spPr>
        <p:txBody>
          <a:bodyPr wrap="square" lIns="0" tIns="0" rIns="0" bIns="0" rtlCol="0" anchor="t"/>
          <a:lstStyle/>
          <a:p>
            <a:pPr marL="0" indent="0">
              <a:buNone/>
            </a:pPr>
            <a:r>
              <a:rPr lang="en-US" sz="1400" dirty="0">
                <a:solidFill>
                  <a:schemeClr val="accent6"/>
                </a:solidFill>
                <a:latin typeface="Calibri" pitchFamily="34" charset="0"/>
                <a:ea typeface="Calibri" pitchFamily="34" charset="-122"/>
                <a:cs typeface="Calibri" pitchFamily="34" charset="-120"/>
              </a:rPr>
              <a:t>Co-metric: every contract decided within 3 days, every flag cited (today: 1 week to 1 month)</a:t>
            </a:r>
            <a:endParaRPr lang="en-US" sz="1400" dirty="0"/>
          </a:p>
        </p:txBody>
      </p:sp>
      <p:sp>
        <p:nvSpPr>
          <p:cNvPr id="11" name="metric-0"/>
          <p:cNvSpPr/>
          <p:nvPr/>
        </p:nvSpPr>
        <p:spPr>
          <a:xfrm>
            <a:off x="5486400" y="1691640"/>
            <a:ext cx="6126480" cy="960120"/>
          </a:xfrm>
          <a:prstGeom prst="roundRect">
            <a:avLst>
              <a:gd name="adj" fmla="val 7619"/>
            </a:avLst>
          </a:prstGeom>
          <a:solidFill>
            <a:schemeClr val="bg2"/>
          </a:solidFill>
          <a:ln w="12700">
            <a:solidFill>
              <a:schemeClr val="bg2"/>
            </a:solidFill>
            <a:prstDash val="solid"/>
          </a:ln>
        </p:spPr>
      </p:sp>
      <p:sp>
        <p:nvSpPr>
          <p:cNvPr id="12" name="Text 9"/>
          <p:cNvSpPr txBox="1"/>
          <p:nvPr/>
        </p:nvSpPr>
        <p:spPr>
          <a:xfrm>
            <a:off x="5715000" y="1828800"/>
            <a:ext cx="3566160" cy="731520"/>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ACA analysis time</a:t>
            </a:r>
            <a:endParaRPr lang="en-US" sz="1500" dirty="0"/>
          </a:p>
        </p:txBody>
      </p:sp>
      <p:sp>
        <p:nvSpPr>
          <p:cNvPr id="13" name="Text 10"/>
          <p:cNvSpPr txBox="1"/>
          <p:nvPr/>
        </p:nvSpPr>
        <p:spPr>
          <a:xfrm>
            <a:off x="9326880" y="1783080"/>
            <a:ext cx="2148840" cy="457200"/>
          </a:xfrm>
          <a:prstGeom prst="rect">
            <a:avLst/>
          </a:prstGeom>
          <a:noFill/>
          <a:ln/>
        </p:spPr>
        <p:txBody>
          <a:bodyPr wrap="square" lIns="0" tIns="0" rIns="0" bIns="0" rtlCol="0" anchor="t"/>
          <a:lstStyle/>
          <a:p>
            <a:pPr marL="0" indent="0" algn="r">
              <a:buNone/>
            </a:pPr>
            <a:r>
              <a:rPr lang="en-US" sz="2200" b="1" dirty="0">
                <a:solidFill>
                  <a:schemeClr val="accent1"/>
                </a:solidFill>
                <a:latin typeface="Cambria" pitchFamily="34" charset="0"/>
                <a:ea typeface="Cambria" pitchFamily="34" charset="-122"/>
                <a:cs typeface="Cambria" pitchFamily="34" charset="-120"/>
              </a:rPr>
              <a:t>&lt; 5 min</a:t>
            </a:r>
            <a:endParaRPr lang="en-US" sz="2200" dirty="0"/>
          </a:p>
        </p:txBody>
      </p:sp>
      <p:sp>
        <p:nvSpPr>
          <p:cNvPr id="14" name="Text 11"/>
          <p:cNvSpPr txBox="1"/>
          <p:nvPr/>
        </p:nvSpPr>
        <p:spPr>
          <a:xfrm>
            <a:off x="9326880" y="2240280"/>
            <a:ext cx="2148840" cy="320040"/>
          </a:xfrm>
          <a:prstGeom prst="rect">
            <a:avLst/>
          </a:prstGeom>
          <a:noFill/>
          <a:ln/>
        </p:spPr>
        <p:txBody>
          <a:bodyPr wrap="square" lIns="0" tIns="0" rIns="0" bIns="0" rtlCol="0" anchor="t"/>
          <a:lstStyle/>
          <a:p>
            <a:pPr marL="0" indent="0" algn="r">
              <a:buNone/>
            </a:pPr>
            <a:r>
              <a:rPr lang="en-US" sz="1100" dirty="0">
                <a:solidFill>
                  <a:schemeClr val="accent5"/>
                </a:solidFill>
                <a:latin typeface="Calibri" pitchFamily="34" charset="0"/>
                <a:ea typeface="Calibri" pitchFamily="34" charset="-122"/>
                <a:cs typeface="Calibri" pitchFamily="34" charset="-120"/>
              </a:rPr>
              <a:t>measured 4–46 s</a:t>
            </a:r>
            <a:endParaRPr lang="en-US" sz="1100" dirty="0"/>
          </a:p>
        </p:txBody>
      </p:sp>
      <p:sp>
        <p:nvSpPr>
          <p:cNvPr id="15" name="metric-1"/>
          <p:cNvSpPr/>
          <p:nvPr/>
        </p:nvSpPr>
        <p:spPr>
          <a:xfrm>
            <a:off x="5486400" y="2788920"/>
            <a:ext cx="6126480" cy="960120"/>
          </a:xfrm>
          <a:prstGeom prst="roundRect">
            <a:avLst>
              <a:gd name="adj" fmla="val 7619"/>
            </a:avLst>
          </a:prstGeom>
          <a:solidFill>
            <a:schemeClr val="bg2"/>
          </a:solidFill>
          <a:ln w="12700">
            <a:solidFill>
              <a:schemeClr val="bg2"/>
            </a:solidFill>
            <a:prstDash val="solid"/>
          </a:ln>
        </p:spPr>
      </p:sp>
      <p:sp>
        <p:nvSpPr>
          <p:cNvPr id="16" name="Text 13"/>
          <p:cNvSpPr txBox="1"/>
          <p:nvPr/>
        </p:nvSpPr>
        <p:spPr>
          <a:xfrm>
            <a:off x="5715000" y="2926080"/>
            <a:ext cx="3566160" cy="731520"/>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Flags you mark wrong</a:t>
            </a:r>
            <a:endParaRPr lang="en-US" sz="1500" dirty="0"/>
          </a:p>
        </p:txBody>
      </p:sp>
      <p:sp>
        <p:nvSpPr>
          <p:cNvPr id="17" name="Text 14"/>
          <p:cNvSpPr txBox="1"/>
          <p:nvPr/>
        </p:nvSpPr>
        <p:spPr>
          <a:xfrm>
            <a:off x="9326880" y="2880360"/>
            <a:ext cx="2148840" cy="457200"/>
          </a:xfrm>
          <a:prstGeom prst="rect">
            <a:avLst/>
          </a:prstGeom>
          <a:noFill/>
          <a:ln/>
        </p:spPr>
        <p:txBody>
          <a:bodyPr wrap="square" lIns="0" tIns="0" rIns="0" bIns="0" rtlCol="0" anchor="t"/>
          <a:lstStyle/>
          <a:p>
            <a:pPr marL="0" indent="0" algn="r">
              <a:buNone/>
            </a:pPr>
            <a:r>
              <a:rPr lang="en-US" sz="2200" b="1" dirty="0">
                <a:solidFill>
                  <a:schemeClr val="accent1"/>
                </a:solidFill>
                <a:latin typeface="Cambria" pitchFamily="34" charset="0"/>
                <a:ea typeface="Cambria" pitchFamily="34" charset="-122"/>
                <a:cs typeface="Cambria" pitchFamily="34" charset="-120"/>
              </a:rPr>
              <a:t>≤ 20%</a:t>
            </a:r>
            <a:endParaRPr lang="en-US" sz="2200" dirty="0"/>
          </a:p>
        </p:txBody>
      </p:sp>
      <p:sp>
        <p:nvSpPr>
          <p:cNvPr id="18" name="Text 15"/>
          <p:cNvSpPr txBox="1"/>
          <p:nvPr/>
        </p:nvSpPr>
        <p:spPr>
          <a:xfrm>
            <a:off x="9326880" y="3337560"/>
            <a:ext cx="2148840" cy="320040"/>
          </a:xfrm>
          <a:prstGeom prst="rect">
            <a:avLst/>
          </a:prstGeom>
          <a:noFill/>
          <a:ln/>
        </p:spPr>
        <p:txBody>
          <a:bodyPr wrap="square" lIns="0" tIns="0" rIns="0" bIns="0" rtlCol="0" anchor="t"/>
          <a:lstStyle/>
          <a:p>
            <a:pPr marL="0" indent="0" algn="r">
              <a:buNone/>
            </a:pPr>
            <a:r>
              <a:rPr lang="en-US" sz="1100" dirty="0">
                <a:solidFill>
                  <a:schemeClr val="accent5"/>
                </a:solidFill>
                <a:latin typeface="Calibri" pitchFamily="34" charset="0"/>
                <a:ea typeface="Calibri" pitchFamily="34" charset="-122"/>
                <a:cs typeface="Calibri" pitchFamily="34" charset="-120"/>
              </a:rPr>
              <a:t>Pilot metrics tab: your useful, dismissed and wrong clicks</a:t>
            </a:r>
            <a:endParaRPr lang="en-US" sz="1100" dirty="0"/>
          </a:p>
        </p:txBody>
      </p:sp>
      <p:sp>
        <p:nvSpPr>
          <p:cNvPr id="19" name="metric-2"/>
          <p:cNvSpPr/>
          <p:nvPr/>
        </p:nvSpPr>
        <p:spPr>
          <a:xfrm>
            <a:off x="5486400" y="3886200"/>
            <a:ext cx="6126480" cy="960120"/>
          </a:xfrm>
          <a:prstGeom prst="roundRect">
            <a:avLst>
              <a:gd name="adj" fmla="val 7619"/>
            </a:avLst>
          </a:prstGeom>
          <a:solidFill>
            <a:schemeClr val="bg2"/>
          </a:solidFill>
          <a:ln w="12700">
            <a:solidFill>
              <a:schemeClr val="bg2"/>
            </a:solidFill>
            <a:prstDash val="solid"/>
          </a:ln>
        </p:spPr>
      </p:sp>
      <p:sp>
        <p:nvSpPr>
          <p:cNvPr id="20" name="Text 17"/>
          <p:cNvSpPr txBox="1"/>
          <p:nvPr/>
        </p:nvSpPr>
        <p:spPr>
          <a:xfrm>
            <a:off x="5715000" y="4023360"/>
            <a:ext cx="3566160" cy="731520"/>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Signed conflicts · uncapped damages · data leaks · AI sign actions</a:t>
            </a:r>
            <a:endParaRPr lang="en-US" sz="1500" dirty="0"/>
          </a:p>
        </p:txBody>
      </p:sp>
      <p:sp>
        <p:nvSpPr>
          <p:cNvPr id="21" name="Text 18"/>
          <p:cNvSpPr txBox="1"/>
          <p:nvPr/>
        </p:nvSpPr>
        <p:spPr>
          <a:xfrm>
            <a:off x="9326880" y="3977640"/>
            <a:ext cx="2148840" cy="457200"/>
          </a:xfrm>
          <a:prstGeom prst="rect">
            <a:avLst/>
          </a:prstGeom>
          <a:noFill/>
          <a:ln/>
        </p:spPr>
        <p:txBody>
          <a:bodyPr wrap="square" lIns="0" tIns="0" rIns="0" bIns="0" rtlCol="0" anchor="t"/>
          <a:lstStyle/>
          <a:p>
            <a:pPr marL="0" indent="0" algn="r">
              <a:buNone/>
            </a:pPr>
            <a:r>
              <a:rPr lang="en-US" sz="2200" b="1" dirty="0">
                <a:solidFill>
                  <a:schemeClr val="accent1"/>
                </a:solidFill>
                <a:latin typeface="Cambria" pitchFamily="34" charset="0"/>
                <a:ea typeface="Cambria" pitchFamily="34" charset="-122"/>
                <a:cs typeface="Cambria" pitchFamily="34" charset="-120"/>
              </a:rPr>
              <a:t>0</a:t>
            </a:r>
            <a:endParaRPr lang="en-US" sz="2200" dirty="0"/>
          </a:p>
        </p:txBody>
      </p:sp>
      <p:sp>
        <p:nvSpPr>
          <p:cNvPr id="22" name="Text 19"/>
          <p:cNvSpPr txBox="1"/>
          <p:nvPr/>
        </p:nvSpPr>
        <p:spPr>
          <a:xfrm>
            <a:off x="9326880" y="4434840"/>
            <a:ext cx="2148840" cy="320040"/>
          </a:xfrm>
          <a:prstGeom prst="rect">
            <a:avLst/>
          </a:prstGeom>
          <a:noFill/>
          <a:ln/>
        </p:spPr>
        <p:txBody>
          <a:bodyPr wrap="square" lIns="0" tIns="0" rIns="0" bIns="0" rtlCol="0" anchor="t"/>
          <a:lstStyle/>
          <a:p>
            <a:pPr marL="0" indent="0" algn="r">
              <a:buNone/>
            </a:pPr>
            <a:r>
              <a:rPr lang="en-US" sz="1100" dirty="0">
                <a:solidFill>
                  <a:schemeClr val="accent5"/>
                </a:solidFill>
                <a:latin typeface="Calibri" pitchFamily="34" charset="0"/>
                <a:ea typeface="Calibri" pitchFamily="34" charset="-122"/>
                <a:cs typeface="Calibri" pitchFamily="34" charset="-120"/>
              </a:rPr>
              <a:t>guardrail metrics</a:t>
            </a:r>
            <a:endParaRPr lang="en-US" sz="1100" dirty="0"/>
          </a:p>
        </p:txBody>
      </p:sp>
      <p:sp>
        <p:nvSpPr>
          <p:cNvPr id="23" name="metric-3"/>
          <p:cNvSpPr/>
          <p:nvPr/>
        </p:nvSpPr>
        <p:spPr>
          <a:xfrm>
            <a:off x="5486400" y="4983480"/>
            <a:ext cx="6126480" cy="960120"/>
          </a:xfrm>
          <a:prstGeom prst="roundRect">
            <a:avLst>
              <a:gd name="adj" fmla="val 7619"/>
            </a:avLst>
          </a:prstGeom>
          <a:solidFill>
            <a:schemeClr val="bg2"/>
          </a:solidFill>
          <a:ln w="12700">
            <a:solidFill>
              <a:schemeClr val="bg2"/>
            </a:solidFill>
            <a:prstDash val="solid"/>
          </a:ln>
        </p:spPr>
      </p:sp>
      <p:sp>
        <p:nvSpPr>
          <p:cNvPr id="24" name="Text 21"/>
          <p:cNvSpPr txBox="1"/>
          <p:nvPr/>
        </p:nvSpPr>
        <p:spPr>
          <a:xfrm>
            <a:off x="5715000" y="5120640"/>
            <a:ext cx="3566160" cy="731520"/>
          </a:xfrm>
          <a:prstGeom prst="rect">
            <a:avLst/>
          </a:prstGeom>
          <a:noFill/>
          <a:ln/>
        </p:spPr>
        <p:txBody>
          <a:bodyPr wrap="square" lIns="0" tIns="0" rIns="0" bIns="0" rtlCol="0" anchor="ctr"/>
          <a:lstStyle/>
          <a:p>
            <a:pPr marL="0" indent="0">
              <a:buNone/>
            </a:pPr>
            <a:r>
              <a:rPr lang="en-US" sz="1500" dirty="0">
                <a:solidFill>
                  <a:schemeClr val="tx1"/>
                </a:solidFill>
                <a:latin typeface="Calibri" pitchFamily="34" charset="0"/>
                <a:ea typeface="Calibri" pitchFamily="34" charset="-122"/>
                <a:cs typeface="Calibri" pitchFamily="34" charset="-120"/>
              </a:rPr>
              <a:t>Outside counsel spend</a:t>
            </a:r>
            <a:endParaRPr lang="en-US" sz="1500" dirty="0"/>
          </a:p>
        </p:txBody>
      </p:sp>
      <p:sp>
        <p:nvSpPr>
          <p:cNvPr id="25" name="Text 22"/>
          <p:cNvSpPr txBox="1"/>
          <p:nvPr/>
        </p:nvSpPr>
        <p:spPr>
          <a:xfrm>
            <a:off x="9326880" y="5074920"/>
            <a:ext cx="2148840" cy="457200"/>
          </a:xfrm>
          <a:prstGeom prst="rect">
            <a:avLst/>
          </a:prstGeom>
          <a:noFill/>
          <a:ln/>
        </p:spPr>
        <p:txBody>
          <a:bodyPr wrap="square" lIns="0" tIns="0" rIns="0" bIns="0" rtlCol="0" anchor="t"/>
          <a:lstStyle/>
          <a:p>
            <a:pPr marL="0" indent="0" algn="r">
              <a:buNone/>
            </a:pPr>
            <a:r>
              <a:rPr lang="en-US" sz="2200" b="1" dirty="0">
                <a:solidFill>
                  <a:schemeClr val="accent1"/>
                </a:solidFill>
                <a:latin typeface="Cambria" pitchFamily="34" charset="0"/>
                <a:ea typeface="Cambria" pitchFamily="34" charset="-122"/>
                <a:cs typeface="Cambria" pitchFamily="34" charset="-120"/>
              </a:rPr>
              <a:t>≤ $5k / yr</a:t>
            </a:r>
            <a:endParaRPr lang="en-US" sz="2200" dirty="0"/>
          </a:p>
        </p:txBody>
      </p:sp>
      <p:sp>
        <p:nvSpPr>
          <p:cNvPr id="26" name="Text 23"/>
          <p:cNvSpPr txBox="1"/>
          <p:nvPr/>
        </p:nvSpPr>
        <p:spPr>
          <a:xfrm>
            <a:off x="9326880" y="5532120"/>
            <a:ext cx="2148840" cy="320040"/>
          </a:xfrm>
          <a:prstGeom prst="rect">
            <a:avLst/>
          </a:prstGeom>
          <a:noFill/>
          <a:ln/>
        </p:spPr>
        <p:txBody>
          <a:bodyPr wrap="square" lIns="0" tIns="0" rIns="0" bIns="0" rtlCol="0" anchor="t"/>
          <a:lstStyle/>
          <a:p>
            <a:pPr marL="0" indent="0" algn="r">
              <a:buNone/>
            </a:pPr>
            <a:r>
              <a:rPr lang="en-US" sz="1100" dirty="0">
                <a:solidFill>
                  <a:schemeClr val="accent5"/>
                </a:solidFill>
                <a:latin typeface="Calibri" pitchFamily="34" charset="0"/>
                <a:ea typeface="Calibri" pitchFamily="34" charset="-122"/>
                <a:cs typeface="Calibri" pitchFamily="34" charset="-120"/>
              </a:rPr>
              <a:t>even as volume grows</a:t>
            </a:r>
            <a:endParaRPr lang="en-US" sz="1100" dirty="0"/>
          </a:p>
        </p:txBody>
      </p:sp>
      <p:sp>
        <p:nvSpPr>
          <p:cNvPr id="27"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329184"/>
          </a:xfrm>
          <a:prstGeom prst="rect">
            <a:avLst/>
          </a:prstGeom>
          <a:noFill/>
          <a:ln/>
        </p:spPr>
        <p:txBody>
          <a:bodyPr wrap="square" lIns="0" tIns="0" rIns="0" bIns="0" rtlCol="0"/>
          <a:lstStyle/>
          <a:p>
            <a:pPr marL="0" indent="0">
              <a:buNone/>
            </a:pPr>
            <a:r>
              <a:rPr lang="en-US" sz="1200" b="1" dirty="0">
                <a:solidFill>
                  <a:schemeClr val="accent1"/>
                </a:solidFill>
                <a:latin typeface="Calibri" pitchFamily="34" charset="0"/>
                <a:ea typeface="Calibri" pitchFamily="34" charset="-122"/>
                <a:cs typeface="Calibri" pitchFamily="34" charset="-120"/>
              </a:rPr>
              <a:t>THE BUSINESS CASE</a:t>
            </a:r>
            <a:endParaRPr lang="en-US" sz="1200" dirty="0"/>
          </a:p>
        </p:txBody>
      </p:sp>
      <p:sp>
        <p:nvSpPr>
          <p:cNvPr id="3" name="Text 0"/>
          <p:cNvSpPr>
            <a:spLocks noGrp="1"/>
          </p:cNvSpPr>
          <p:nvPr>
            <p:ph type="title" idx="101" hasCustomPrompt="1"/>
          </p:nvPr>
        </p:nvSpPr>
        <p:spPr>
          <a:xfrm>
            <a:off x="548640" y="603504"/>
            <a:ext cx="11064240" cy="868680"/>
          </a:xfrm>
          <a:prstGeom prst="rect">
            <a:avLst/>
          </a:prstGeom>
          <a:noFill/>
          <a:ln/>
        </p:spPr>
        <p:txBody>
          <a:bodyPr wrap="square" lIns="0" tIns="0" rIns="0" bIns="0" rtlCol="0" anchor="t"/>
          <a:lstStyle/>
          <a:p>
            <a:pPr marL="0" indent="0" algn="l">
              <a:buNone/>
            </a:pPr>
            <a:r>
              <a:rPr lang="en-US" sz="3000" b="1" dirty="0">
                <a:solidFill>
                  <a:schemeClr val="tx2"/>
                </a:solidFill>
                <a:latin typeface="Cambria" pitchFamily="34" charset="0"/>
                <a:ea typeface="Cambria" pitchFamily="34" charset="-122"/>
                <a:cs typeface="Cambria" pitchFamily="34" charset="-120"/>
              </a:rPr>
              <a:t>About $54 a month to run, about $700 a month back</a:t>
            </a:r>
            <a:endParaRPr lang="en-US" sz="3000" dirty="0"/>
          </a:p>
        </p:txBody>
      </p:sp>
      <p:graphicFrame>
        <p:nvGraphicFramePr>
          <p:cNvPr id="4" name="Chart 0"/>
          <p:cNvGraphicFramePr/>
          <p:nvPr/>
        </p:nvGraphicFramePr>
        <p:xfrm>
          <a:off x="548640" y="1645920"/>
          <a:ext cx="640080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5" name="bc-0"/>
          <p:cNvSpPr/>
          <p:nvPr/>
        </p:nvSpPr>
        <p:spPr>
          <a:xfrm>
            <a:off x="7315200" y="1691640"/>
            <a:ext cx="4297680" cy="1298448"/>
          </a:xfrm>
          <a:prstGeom prst="roundRect">
            <a:avLst>
              <a:gd name="adj" fmla="val 5634"/>
            </a:avLst>
          </a:prstGeom>
          <a:solidFill>
            <a:schemeClr val="accent6"/>
          </a:solidFill>
          <a:ln w="12700">
            <a:solidFill>
              <a:schemeClr val="accent6"/>
            </a:solidFill>
            <a:prstDash val="solid"/>
          </a:ln>
        </p:spPr>
      </p:sp>
      <p:sp>
        <p:nvSpPr>
          <p:cNvPr id="6" name="Text 3"/>
          <p:cNvSpPr txBox="1"/>
          <p:nvPr/>
        </p:nvSpPr>
        <p:spPr>
          <a:xfrm>
            <a:off x="7543800" y="1828800"/>
            <a:ext cx="3840480" cy="54864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$0.20</a:t>
            </a:r>
            <a:endParaRPr lang="en-US" sz="2800" dirty="0"/>
          </a:p>
        </p:txBody>
      </p:sp>
      <p:sp>
        <p:nvSpPr>
          <p:cNvPr id="7" name="Text 4"/>
          <p:cNvSpPr txBox="1"/>
          <p:nvPr/>
        </p:nvSpPr>
        <p:spPr>
          <a:xfrm>
            <a:off x="7543800" y="2404872"/>
            <a:ext cx="3886200" cy="5029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per contract review (measured; estimate $0.16)</a:t>
            </a:r>
            <a:endParaRPr lang="en-US" sz="1300" dirty="0"/>
          </a:p>
        </p:txBody>
      </p:sp>
      <p:sp>
        <p:nvSpPr>
          <p:cNvPr id="8" name="bc-1"/>
          <p:cNvSpPr/>
          <p:nvPr/>
        </p:nvSpPr>
        <p:spPr>
          <a:xfrm>
            <a:off x="7315200" y="3154680"/>
            <a:ext cx="4297680" cy="1298448"/>
          </a:xfrm>
          <a:prstGeom prst="roundRect">
            <a:avLst>
              <a:gd name="adj" fmla="val 5634"/>
            </a:avLst>
          </a:prstGeom>
          <a:solidFill>
            <a:schemeClr val="tx2"/>
          </a:solidFill>
          <a:ln w="12700">
            <a:solidFill>
              <a:schemeClr val="tx2"/>
            </a:solidFill>
            <a:prstDash val="solid"/>
          </a:ln>
        </p:spPr>
      </p:sp>
      <p:sp>
        <p:nvSpPr>
          <p:cNvPr id="9" name="Text 6"/>
          <p:cNvSpPr txBox="1"/>
          <p:nvPr/>
        </p:nvSpPr>
        <p:spPr>
          <a:xfrm>
            <a:off x="7543800" y="3291840"/>
            <a:ext cx="3840480" cy="548640"/>
          </a:xfrm>
          <a:prstGeom prst="rect">
            <a:avLst/>
          </a:prstGeom>
          <a:noFill/>
          <a:ln/>
        </p:spPr>
        <p:txBody>
          <a:bodyPr wrap="square" lIns="0" tIns="0" rIns="0" bIns="0" rtlCol="0" anchor="t"/>
          <a:lstStyle/>
          <a:p>
            <a:pPr marL="0" indent="0">
              <a:buNone/>
            </a:pPr>
            <a:r>
              <a:rPr lang="en-US" sz="2800" b="1" dirty="0">
                <a:solidFill>
                  <a:schemeClr val="accent2"/>
                </a:solidFill>
                <a:latin typeface="Cambria" pitchFamily="34" charset="0"/>
                <a:ea typeface="Cambria" pitchFamily="34" charset="-122"/>
                <a:cs typeface="Cambria" pitchFamily="34" charset="-120"/>
              </a:rPr>
              <a:t>$696 / month</a:t>
            </a:r>
            <a:endParaRPr lang="en-US" sz="2800" dirty="0"/>
          </a:p>
        </p:txBody>
      </p:sp>
      <p:sp>
        <p:nvSpPr>
          <p:cNvPr id="10" name="Text 7"/>
          <p:cNvSpPr txBox="1"/>
          <p:nvPr/>
        </p:nvSpPr>
        <p:spPr>
          <a:xfrm>
            <a:off x="7543800" y="3867912"/>
            <a:ext cx="3886200" cy="502920"/>
          </a:xfrm>
          <a:prstGeom prst="rect">
            <a:avLst/>
          </a:prstGeom>
          <a:noFill/>
          <a:ln/>
        </p:spPr>
        <p:txBody>
          <a:bodyPr wrap="square" lIns="0" tIns="0" rIns="0" bIns="0" rtlCol="0" anchor="t"/>
          <a:lstStyle/>
          <a:p>
            <a:pPr marL="0" indent="0">
              <a:buNone/>
            </a:pPr>
            <a:r>
              <a:rPr lang="en-US" sz="1300" dirty="0">
                <a:solidFill>
                  <a:schemeClr val="bg1"/>
                </a:solidFill>
                <a:latin typeface="Calibri" pitchFamily="34" charset="0"/>
                <a:ea typeface="Calibri" pitchFamily="34" charset="-122"/>
                <a:cs typeface="Calibri" pitchFamily="34" charset="-120"/>
              </a:rPr>
              <a:t>saved at today's volume: 43%, about 13x the running cost</a:t>
            </a:r>
            <a:endParaRPr lang="en-US" sz="1300" dirty="0"/>
          </a:p>
        </p:txBody>
      </p:sp>
      <p:sp>
        <p:nvSpPr>
          <p:cNvPr id="11" name="bc-2"/>
          <p:cNvSpPr/>
          <p:nvPr/>
        </p:nvSpPr>
        <p:spPr>
          <a:xfrm>
            <a:off x="7315200" y="4617720"/>
            <a:ext cx="4297680" cy="1298448"/>
          </a:xfrm>
          <a:prstGeom prst="roundRect">
            <a:avLst>
              <a:gd name="adj" fmla="val 5634"/>
            </a:avLst>
          </a:prstGeom>
          <a:solidFill>
            <a:schemeClr val="accent6"/>
          </a:solidFill>
          <a:ln w="12700">
            <a:solidFill>
              <a:schemeClr val="accent6"/>
            </a:solidFill>
            <a:prstDash val="solid"/>
          </a:ln>
        </p:spPr>
      </p:sp>
      <p:sp>
        <p:nvSpPr>
          <p:cNvPr id="12" name="Text 9"/>
          <p:cNvSpPr txBox="1"/>
          <p:nvPr/>
        </p:nvSpPr>
        <p:spPr>
          <a:xfrm>
            <a:off x="7543800" y="4754880"/>
            <a:ext cx="3840480" cy="54864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36 years</a:t>
            </a:r>
            <a:endParaRPr lang="en-US" sz="2800" dirty="0"/>
          </a:p>
        </p:txBody>
      </p:sp>
      <p:sp>
        <p:nvSpPr>
          <p:cNvPr id="13" name="Text 10"/>
          <p:cNvSpPr txBox="1"/>
          <p:nvPr/>
        </p:nvSpPr>
        <p:spPr>
          <a:xfrm>
            <a:off x="7543800" y="5330952"/>
            <a:ext cx="3886200" cy="502920"/>
          </a:xfrm>
          <a:prstGeom prst="rect">
            <a:avLst/>
          </a:prstGeom>
          <a:noFill/>
          <a:ln/>
        </p:spPr>
        <p:txBody>
          <a:bodyPr wrap="square" lIns="0" tIns="0" rIns="0" bIns="0" rtlCol="0" anchor="t"/>
          <a:lstStyle/>
          <a:p>
            <a:pPr marL="0" indent="0">
              <a:buNone/>
            </a:pPr>
            <a:r>
              <a:rPr lang="en-US" sz="1300" dirty="0">
                <a:solidFill>
                  <a:schemeClr val="tx1"/>
                </a:solidFill>
                <a:latin typeface="Calibri" pitchFamily="34" charset="0"/>
                <a:ea typeface="Calibri" pitchFamily="34" charset="-122"/>
                <a:cs typeface="Calibri" pitchFamily="34" charset="-120"/>
              </a:rPr>
              <a:t>of running costs = one avoided Brightwater ($23.2k)</a:t>
            </a:r>
            <a:endParaRPr lang="en-US" sz="1300" dirty="0"/>
          </a:p>
        </p:txBody>
      </p:sp>
      <p:sp>
        <p:nvSpPr>
          <p:cNvPr id="25"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329184"/>
          </a:xfrm>
          <a:prstGeom prst="rect">
            <a:avLst/>
          </a:prstGeom>
          <a:noFill/>
          <a:ln/>
        </p:spPr>
        <p:txBody>
          <a:bodyPr wrap="square" lIns="0" tIns="0" rIns="0" bIns="0" rtlCol="0"/>
          <a:lstStyle/>
          <a:p>
            <a:pPr marL="0" indent="0">
              <a:buNone/>
            </a:pPr>
            <a:r>
              <a:rPr lang="en-US" sz="1200" b="1" dirty="0">
                <a:solidFill>
                  <a:schemeClr val="accent1"/>
                </a:solidFill>
                <a:latin typeface="Calibri" pitchFamily="34" charset="0"/>
                <a:ea typeface="Calibri" pitchFamily="34" charset="-122"/>
                <a:cs typeface="Calibri" pitchFamily="34" charset="-120"/>
              </a:rPr>
              <a:t>RISKS AND GUARDRAILS</a:t>
            </a:r>
            <a:endParaRPr lang="en-US" sz="1200" dirty="0"/>
          </a:p>
        </p:txBody>
      </p:sp>
      <p:sp>
        <p:nvSpPr>
          <p:cNvPr id="3" name="Text 0"/>
          <p:cNvSpPr>
            <a:spLocks noGrp="1"/>
          </p:cNvSpPr>
          <p:nvPr>
            <p:ph type="title" idx="101" hasCustomPrompt="1"/>
          </p:nvPr>
        </p:nvSpPr>
        <p:spPr>
          <a:xfrm>
            <a:off x="548640" y="603504"/>
            <a:ext cx="11064240" cy="868680"/>
          </a:xfrm>
          <a:prstGeom prst="rect">
            <a:avLst/>
          </a:prstGeom>
          <a:noFill/>
          <a:ln/>
        </p:spPr>
        <p:txBody>
          <a:bodyPr wrap="square" lIns="0" tIns="0" rIns="0" bIns="0" rtlCol="0" anchor="t"/>
          <a:lstStyle/>
          <a:p>
            <a:pPr marL="0" indent="0" algn="l">
              <a:buNone/>
            </a:pPr>
            <a:r>
              <a:rPr lang="en-US" sz="3000" b="1" dirty="0">
                <a:solidFill>
                  <a:schemeClr val="tx2"/>
                </a:solidFill>
                <a:latin typeface="Cambria" pitchFamily="34" charset="0"/>
                <a:ea typeface="Cambria" pitchFamily="34" charset="-122"/>
                <a:cs typeface="Cambria" pitchFamily="34" charset="-120"/>
              </a:rPr>
              <a:t>Every way ACA could fail has a guardrail – all tested</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3813048"/>
        </p:xfrm>
        <a:graphic>
          <a:graphicData uri="http://schemas.openxmlformats.org/drawingml/2006/table">
            <a:tbl>
              <a:tblPr/>
              <a:tblGrid>
                <a:gridCol w="310896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could go wrong</a:t>
                      </a:r>
                      <a:endParaRPr lang="en-US" sz="14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D3F6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Guardrail</a:t>
                      </a:r>
                      <a:endParaRPr lang="en-US" sz="14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D3F6E"/>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Tested</a:t>
                      </a:r>
                      <a:endParaRPr lang="en-US" sz="14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D3F6E"/>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1C2431"/>
                          </a:solidFill>
                          <a:latin typeface="Calibri" pitchFamily="34" charset="0"/>
                          <a:ea typeface="Calibri" pitchFamily="34" charset="-122"/>
                          <a:cs typeface="Calibri" pitchFamily="34" charset="-120"/>
                        </a:rPr>
                        <a:t>Misses a conflict with a past promise</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300" dirty="0">
                          <a:solidFill>
                            <a:srgbClr val="1C2431"/>
                          </a:solidFill>
                          <a:latin typeface="Calibri" pitchFamily="34" charset="0"/>
                          <a:ea typeface="Calibri" pitchFamily="34" charset="-122"/>
                          <a:cs typeface="Calibri" pitchFamily="34" charset="-120"/>
                        </a:rPr>
                        <a:t>Register check tuned to catch everything; unsure cases marked “Needs KD check”; you confirm each register entry</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300" b="1" dirty="0">
                          <a:solidFill>
                            <a:srgbClr val="2B7A4B"/>
                          </a:solidFill>
                          <a:latin typeface="Calibri" pitchFamily="34" charset="0"/>
                          <a:ea typeface="Calibri" pitchFamily="34" charset="-122"/>
                          <a:cs typeface="Calibri" pitchFamily="34" charset="-120"/>
                        </a:rPr>
                        <a:t>10 / 10 caught</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rgbClr val="1C2431"/>
                          </a:solidFill>
                          <a:latin typeface="Calibri" pitchFamily="34" charset="0"/>
                          <a:ea typeface="Calibri" pitchFamily="34" charset="-122"/>
                          <a:cs typeface="Calibri" pitchFamily="34" charset="-120"/>
                        </a:rPr>
                        <a:t>Makes something up</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300" dirty="0">
                          <a:solidFill>
                            <a:srgbClr val="1C2431"/>
                          </a:solidFill>
                          <a:latin typeface="Calibri" pitchFamily="34" charset="0"/>
                          <a:ea typeface="Calibri" pitchFamily="34" charset="-122"/>
                          <a:cs typeface="Calibri" pitchFamily="34" charset="-120"/>
                        </a:rPr>
                        <a:t>No source, no flag: every quote is checked word for word against the contract</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300" b="1" dirty="0">
                          <a:solidFill>
                            <a:srgbClr val="2B7A4B"/>
                          </a:solidFill>
                          <a:latin typeface="Calibri" pitchFamily="34" charset="0"/>
                          <a:ea typeface="Calibri" pitchFamily="34" charset="-122"/>
                          <a:cs typeface="Calibri" pitchFamily="34" charset="-120"/>
                        </a:rPr>
                        <a:t>134 / 134 verified</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rgbClr val="1C2431"/>
                          </a:solidFill>
                          <a:latin typeface="Calibri" pitchFamily="34" charset="0"/>
                          <a:ea typeface="Calibri" pitchFamily="34" charset="-122"/>
                          <a:cs typeface="Calibri" pitchFamily="34" charset="-120"/>
                        </a:rPr>
                        <a:t>Confidential data leaves AtliQ</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300" dirty="0">
                          <a:solidFill>
                            <a:srgbClr val="1C2431"/>
                          </a:solidFill>
                          <a:latin typeface="Calibri" pitchFamily="34" charset="0"/>
                          <a:ea typeface="Calibri" pitchFamily="34" charset="-122"/>
                          <a:cs typeface="Calibri" pitchFamily="34" charset="-120"/>
                        </a:rPr>
                        <a:t>IDs, bank and address details masked; patient records removed before the AI reads it; leak check blocks the call</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300" b="1" dirty="0">
                          <a:solidFill>
                            <a:srgbClr val="2B7A4B"/>
                          </a:solidFill>
                          <a:latin typeface="Calibri" pitchFamily="34" charset="0"/>
                          <a:ea typeface="Calibri" pitchFamily="34" charset="-122"/>
                          <a:cs typeface="Calibri" pitchFamily="34" charset="-120"/>
                        </a:rPr>
                        <a:t>0 leaks in 40 tests</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rgbClr val="1C2431"/>
                          </a:solidFill>
                          <a:latin typeface="Calibri" pitchFamily="34" charset="0"/>
                          <a:ea typeface="Calibri" pitchFamily="34" charset="-122"/>
                          <a:cs typeface="Calibri" pitchFamily="34" charset="-120"/>
                        </a:rPr>
                        <a:t>Someone hides instructions for the AI</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300" dirty="0">
                          <a:solidFill>
                            <a:srgbClr val="1C2431"/>
                          </a:solidFill>
                          <a:latin typeface="Calibri" pitchFamily="34" charset="0"/>
                          <a:ea typeface="Calibri" pitchFamily="34" charset="-122"/>
                          <a:cs typeface="Calibri" pitchFamily="34" charset="-120"/>
                        </a:rPr>
                        <a:t>Hidden instructions are flagged to you and cannot change the result</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300" b="1" dirty="0">
                          <a:solidFill>
                            <a:srgbClr val="2B7A4B"/>
                          </a:solidFill>
                          <a:latin typeface="Calibri" pitchFamily="34" charset="0"/>
                          <a:ea typeface="Calibri" pitchFamily="34" charset="-122"/>
                          <a:cs typeface="Calibri" pitchFamily="34" charset="-120"/>
                        </a:rPr>
                        <a:t>3 / 3 resisted</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300" b="1" dirty="0">
                          <a:solidFill>
                            <a:srgbClr val="1C2431"/>
                          </a:solidFill>
                          <a:latin typeface="Calibri" pitchFamily="34" charset="0"/>
                          <a:ea typeface="Calibri" pitchFamily="34" charset="-122"/>
                          <a:cs typeface="Calibri" pitchFamily="34" charset="-120"/>
                        </a:rPr>
                        <a:t>Too many flags, people stop listening</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300" dirty="0">
                          <a:solidFill>
                            <a:srgbClr val="1C2431"/>
                          </a:solidFill>
                          <a:latin typeface="Calibri" pitchFamily="34" charset="0"/>
                          <a:ea typeface="Calibri" pitchFamily="34" charset="-122"/>
                          <a:cs typeface="Calibri" pitchFamily="34" charset="-120"/>
                        </a:rPr>
                        <a:t>Top 3 only; you mark flags useful, dismissed or wrong; target ≤ 20% wrong</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300" b="1" dirty="0">
                          <a:solidFill>
                            <a:srgbClr val="2B7A4B"/>
                          </a:solidFill>
                          <a:latin typeface="Calibri" pitchFamily="34" charset="0"/>
                          <a:ea typeface="Calibri" pitchFamily="34" charset="-122"/>
                          <a:cs typeface="Calibri" pitchFamily="34" charset="-120"/>
                        </a:rPr>
                        <a:t>0 clean contracts flagged</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r>
                        <a:rPr lang="en-US" sz="1300" b="1" dirty="0">
                          <a:solidFill>
                            <a:srgbClr val="1C2431"/>
                          </a:solidFill>
                          <a:latin typeface="Calibri" pitchFamily="34" charset="0"/>
                          <a:ea typeface="Calibri" pitchFamily="34" charset="-122"/>
                          <a:cs typeface="Calibri" pitchFamily="34" charset="-120"/>
                        </a:rPr>
                        <a:t>AI decides instead of you</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300" dirty="0">
                          <a:solidFill>
                            <a:srgbClr val="1C2431"/>
                          </a:solidFill>
                          <a:latin typeface="Calibri" pitchFamily="34" charset="0"/>
                          <a:ea typeface="Calibri" pitchFamily="34" charset="-122"/>
                          <a:cs typeface="Calibri" pitchFamily="34" charset="-120"/>
                        </a:rPr>
                        <a:t>ACA never signs, approves or sends; only you record a decision; audit log can't be edited</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300" b="1" dirty="0">
                          <a:solidFill>
                            <a:srgbClr val="2B7A4B"/>
                          </a:solidFill>
                          <a:latin typeface="Calibri" pitchFamily="34" charset="0"/>
                          <a:ea typeface="Calibri" pitchFamily="34" charset="-122"/>
                          <a:cs typeface="Calibri" pitchFamily="34" charset="-120"/>
                        </a:rPr>
                        <a:t>No such code exists</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killswitch"/>
          <p:cNvSpPr/>
          <p:nvPr/>
        </p:nvSpPr>
        <p:spPr>
          <a:xfrm>
            <a:off x="548640" y="5623560"/>
            <a:ext cx="11064240" cy="868680"/>
          </a:xfrm>
          <a:prstGeom prst="roundRect">
            <a:avLst>
              <a:gd name="adj" fmla="val 8421"/>
            </a:avLst>
          </a:prstGeom>
          <a:solidFill>
            <a:schemeClr val="bg2"/>
          </a:solidFill>
          <a:ln w="12700">
            <a:solidFill>
              <a:schemeClr val="bg2"/>
            </a:solidFill>
            <a:prstDash val="solid"/>
          </a:ln>
        </p:spPr>
      </p:sp>
      <p:sp>
        <p:nvSpPr>
          <p:cNvPr id="6" name="Text 3"/>
          <p:cNvSpPr txBox="1"/>
          <p:nvPr/>
        </p:nvSpPr>
        <p:spPr>
          <a:xfrm>
            <a:off x="777240" y="5669280"/>
            <a:ext cx="10698480" cy="777240"/>
          </a:xfrm>
          <a:prstGeom prst="rect">
            <a:avLst/>
          </a:prstGeom>
          <a:noFill/>
          <a:ln/>
        </p:spPr>
        <p:txBody>
          <a:bodyPr wrap="square" lIns="0" tIns="0" rIns="0" bIns="0" rtlCol="0" anchor="ctr"/>
          <a:lstStyle/>
          <a:p>
            <a:pPr marL="0" indent="0">
              <a:buNone/>
            </a:pPr>
            <a:r>
              <a:rPr lang="en-US" sz="1400" b="1" dirty="0">
                <a:solidFill>
                  <a:schemeClr val="accent3"/>
                </a:solidFill>
                <a:latin typeface="Calibri" pitchFamily="34" charset="0"/>
                <a:ea typeface="Calibri" pitchFamily="34" charset="-122"/>
                <a:cs typeface="Calibri" pitchFamily="34" charset="-120"/>
              </a:rPr>
              <a:t>Kill switch: </a:t>
            </a:r>
            <a:r>
              <a:rPr lang="en-US" sz="1400" dirty="0">
                <a:solidFill>
                  <a:schemeClr val="tx1"/>
                </a:solidFill>
                <a:latin typeface="Calibri" pitchFamily="34" charset="0"/>
                <a:ea typeface="Calibri" pitchFamily="34" charset="-122"/>
                <a:cs typeface="Calibri" pitchFamily="34" charset="-120"/>
              </a:rPr>
              <a:t>Karandeep (KD) alone can stop ACA with a STOP / START toggle. While ACA is stopped, no contract is sent to it, the Top risk column shows "ACA Disabled", and POCs review each contract by hand against all compliance points.</a:t>
            </a:r>
            <a:endParaRPr lang="en-US" sz="1400" dirty="0"/>
          </a:p>
        </p:txBody>
      </p:sp>
      <p:sp>
        <p:nvSpPr>
          <p:cNvPr id="25"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329184"/>
          </a:xfrm>
          <a:prstGeom prst="rect">
            <a:avLst/>
          </a:prstGeom>
          <a:noFill/>
          <a:ln/>
        </p:spPr>
        <p:txBody>
          <a:bodyPr wrap="square" lIns="0" tIns="0" rIns="0" bIns="0" rtlCol="0"/>
          <a:lstStyle/>
          <a:p>
            <a:pPr marL="0" indent="0">
              <a:buNone/>
            </a:pPr>
            <a:r>
              <a:rPr lang="en-US" sz="1200" b="1" dirty="0">
                <a:solidFill>
                  <a:schemeClr val="accent1"/>
                </a:solidFill>
                <a:latin typeface="Calibri" pitchFamily="34" charset="0"/>
                <a:ea typeface="Calibri" pitchFamily="34" charset="-122"/>
                <a:cs typeface="Calibri" pitchFamily="34" charset="-120"/>
              </a:rPr>
              <a:t>WHAT I NEED FROM YOU</a:t>
            </a:r>
            <a:endParaRPr lang="en-US" sz="1200" dirty="0"/>
          </a:p>
        </p:txBody>
      </p:sp>
      <p:sp>
        <p:nvSpPr>
          <p:cNvPr id="3" name="Text 0"/>
          <p:cNvSpPr>
            <a:spLocks noGrp="1"/>
          </p:cNvSpPr>
          <p:nvPr>
            <p:ph type="title" idx="101" hasCustomPrompt="1"/>
          </p:nvPr>
        </p:nvSpPr>
        <p:spPr>
          <a:xfrm>
            <a:off x="548640" y="603504"/>
            <a:ext cx="11064240" cy="868680"/>
          </a:xfrm>
          <a:prstGeom prst="rect">
            <a:avLst/>
          </a:prstGeom>
          <a:noFill/>
          <a:ln/>
        </p:spPr>
        <p:txBody>
          <a:bodyPr wrap="square" lIns="0" tIns="0" rIns="0" bIns="0" rtlCol="0" anchor="t"/>
          <a:lstStyle/>
          <a:p>
            <a:pPr marL="0" indent="0" algn="l">
              <a:buNone/>
            </a:pPr>
            <a:r>
              <a:rPr lang="en-US" sz="3000" b="1" dirty="0">
                <a:solidFill>
                  <a:schemeClr val="tx2"/>
                </a:solidFill>
                <a:latin typeface="Cambria" pitchFamily="34" charset="0"/>
                <a:ea typeface="Cambria" pitchFamily="34" charset="-122"/>
                <a:cs typeface="Cambria" pitchFamily="34" charset="-120"/>
              </a:rPr>
              <a:t>Three decisions to start the pilot this week</a:t>
            </a:r>
            <a:endParaRPr lang="en-US" sz="3000" dirty="0"/>
          </a:p>
        </p:txBody>
      </p:sp>
      <p:sp>
        <p:nvSpPr>
          <p:cNvPr id="4" name="ask-0"/>
          <p:cNvSpPr/>
          <p:nvPr/>
        </p:nvSpPr>
        <p:spPr>
          <a:xfrm>
            <a:off x="548640" y="1737360"/>
            <a:ext cx="3520440" cy="3291840"/>
          </a:xfrm>
          <a:prstGeom prst="roundRect">
            <a:avLst>
              <a:gd name="adj" fmla="val 2222"/>
            </a:avLst>
          </a:prstGeom>
          <a:solidFill>
            <a:schemeClr val="bg2"/>
          </a:solidFill>
          <a:ln w="12700">
            <a:solidFill>
              <a:schemeClr val="bg2"/>
            </a:solidFill>
            <a:prstDash val="solid"/>
          </a:ln>
        </p:spPr>
      </p:sp>
      <p:sp>
        <p:nvSpPr>
          <p:cNvPr id="5" name="num-1"/>
          <p:cNvSpPr/>
          <p:nvPr/>
        </p:nvSpPr>
        <p:spPr>
          <a:xfrm>
            <a:off x="777240" y="1965960"/>
            <a:ext cx="502920" cy="502920"/>
          </a:xfrm>
          <a:prstGeom prst="ellipse">
            <a:avLst/>
          </a:prstGeom>
          <a:solidFill>
            <a:schemeClr val="accent2"/>
          </a:solidFill>
          <a:ln w="12700">
            <a:solidFill>
              <a:schemeClr val="accent2"/>
            </a:solidFill>
            <a:prstDash val="solid"/>
          </a:ln>
        </p:spPr>
      </p:sp>
      <p:sp>
        <p:nvSpPr>
          <p:cNvPr id="6" name="Text 4"/>
          <p:cNvSpPr txBox="1"/>
          <p:nvPr/>
        </p:nvSpPr>
        <p:spPr>
          <a:xfrm>
            <a:off x="777240" y="1965960"/>
            <a:ext cx="502920" cy="502920"/>
          </a:xfrm>
          <a:prstGeom prst="rect">
            <a:avLst/>
          </a:prstGeom>
          <a:noFill/>
          <a:ln/>
        </p:spPr>
        <p:txBody>
          <a:bodyPr wrap="square" lIns="0" tIns="0" rIns="0" bIns="0" rtlCol="0" anchor="ctr"/>
          <a:lstStyle/>
          <a:p>
            <a:pPr marL="0" indent="0" algn="ctr">
              <a:buNone/>
            </a:pPr>
            <a:r>
              <a:rPr lang="en-US" sz="1500" b="1" dirty="0">
                <a:solidFill>
                  <a:schemeClr val="tx2"/>
                </a:solidFill>
              </a:rPr>
              <a:t>1</a:t>
            </a:r>
            <a:endParaRPr lang="en-US" sz="1500" dirty="0"/>
          </a:p>
        </p:txBody>
      </p:sp>
      <p:sp>
        <p:nvSpPr>
          <p:cNvPr id="7" name="icon-circle"/>
          <p:cNvSpPr/>
          <p:nvPr/>
        </p:nvSpPr>
        <p:spPr>
          <a:xfrm>
            <a:off x="3200400" y="1920240"/>
            <a:ext cx="640080" cy="640080"/>
          </a:xfrm>
          <a:prstGeom prst="ellipse">
            <a:avLst/>
          </a:prstGeom>
          <a:solidFill>
            <a:schemeClr val="accent1"/>
          </a:solidFill>
          <a:ln w="12700">
            <a:solidFill>
              <a:schemeClr val="accent1"/>
            </a:solidFill>
            <a:prstDash val="solid"/>
          </a:ln>
        </p:spPr>
      </p:sp>
      <p:pic>
        <p:nvPicPr>
          <p:cNvPr id="8" name="icon-FaClipboardCheck" descr="preencoded.png"/>
          <p:cNvPicPr>
            <a:picLocks noChangeAspect="1"/>
          </p:cNvPicPr>
          <p:nvPr/>
        </p:nvPicPr>
        <p:blipFill>
          <a:blip r:embed="rId3"/>
          <a:stretch>
            <a:fillRect/>
          </a:stretch>
        </p:blipFill>
        <p:spPr>
          <a:xfrm>
            <a:off x="3354019" y="2073859"/>
            <a:ext cx="332842" cy="332842"/>
          </a:xfrm>
          <a:prstGeom prst="rect">
            <a:avLst/>
          </a:prstGeom>
        </p:spPr>
      </p:pic>
      <p:sp>
        <p:nvSpPr>
          <p:cNvPr id="9" name="Text 6"/>
          <p:cNvSpPr txBox="1"/>
          <p:nvPr/>
        </p:nvSpPr>
        <p:spPr>
          <a:xfrm>
            <a:off x="777240" y="2743200"/>
            <a:ext cx="3063240" cy="45720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Confirm the register</a:t>
            </a:r>
            <a:endParaRPr lang="en-US" sz="1900" dirty="0"/>
          </a:p>
        </p:txBody>
      </p:sp>
      <p:sp>
        <p:nvSpPr>
          <p:cNvPr id="10" name="Text 7"/>
          <p:cNvSpPr txBox="1"/>
          <p:nvPr/>
        </p:nvSpPr>
        <p:spPr>
          <a:xfrm>
            <a:off x="777240" y="3291840"/>
            <a:ext cx="3063240" cy="16459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Spend ~45 minutes confirming the ~50 promises ACA found. Only you can; it becomes AtliQ's memory.</a:t>
            </a:r>
            <a:endParaRPr lang="en-US" sz="1600" dirty="0"/>
          </a:p>
        </p:txBody>
      </p:sp>
      <p:sp>
        <p:nvSpPr>
          <p:cNvPr id="11" name="ask-1"/>
          <p:cNvSpPr/>
          <p:nvPr/>
        </p:nvSpPr>
        <p:spPr>
          <a:xfrm>
            <a:off x="4297680" y="1737360"/>
            <a:ext cx="3520440" cy="3291840"/>
          </a:xfrm>
          <a:prstGeom prst="roundRect">
            <a:avLst>
              <a:gd name="adj" fmla="val 2222"/>
            </a:avLst>
          </a:prstGeom>
          <a:solidFill>
            <a:schemeClr val="bg2"/>
          </a:solidFill>
          <a:ln w="12700">
            <a:solidFill>
              <a:schemeClr val="bg2"/>
            </a:solidFill>
            <a:prstDash val="solid"/>
          </a:ln>
        </p:spPr>
      </p:sp>
      <p:sp>
        <p:nvSpPr>
          <p:cNvPr id="12" name="num-2"/>
          <p:cNvSpPr/>
          <p:nvPr/>
        </p:nvSpPr>
        <p:spPr>
          <a:xfrm>
            <a:off x="4526280" y="1965960"/>
            <a:ext cx="502920" cy="502920"/>
          </a:xfrm>
          <a:prstGeom prst="ellipse">
            <a:avLst/>
          </a:prstGeom>
          <a:solidFill>
            <a:schemeClr val="accent2"/>
          </a:solidFill>
          <a:ln w="12700">
            <a:solidFill>
              <a:schemeClr val="accent2"/>
            </a:solidFill>
            <a:prstDash val="solid"/>
          </a:ln>
        </p:spPr>
      </p:sp>
      <p:sp>
        <p:nvSpPr>
          <p:cNvPr id="13" name="Text 10"/>
          <p:cNvSpPr txBox="1"/>
          <p:nvPr/>
        </p:nvSpPr>
        <p:spPr>
          <a:xfrm>
            <a:off x="4526280" y="1965960"/>
            <a:ext cx="502920" cy="502920"/>
          </a:xfrm>
          <a:prstGeom prst="rect">
            <a:avLst/>
          </a:prstGeom>
          <a:noFill/>
          <a:ln/>
        </p:spPr>
        <p:txBody>
          <a:bodyPr wrap="square" lIns="0" tIns="0" rIns="0" bIns="0" rtlCol="0" anchor="ctr"/>
          <a:lstStyle/>
          <a:p>
            <a:pPr marL="0" indent="0" algn="ctr">
              <a:buNone/>
            </a:pPr>
            <a:r>
              <a:rPr lang="en-US" sz="1500" b="1" dirty="0">
                <a:solidFill>
                  <a:schemeClr val="tx2"/>
                </a:solidFill>
              </a:rPr>
              <a:t>2</a:t>
            </a:r>
            <a:endParaRPr lang="en-US" sz="1500" dirty="0"/>
          </a:p>
        </p:txBody>
      </p:sp>
      <p:sp>
        <p:nvSpPr>
          <p:cNvPr id="14" name="icon-circle"/>
          <p:cNvSpPr/>
          <p:nvPr/>
        </p:nvSpPr>
        <p:spPr>
          <a:xfrm>
            <a:off x="6949440" y="1920240"/>
            <a:ext cx="640080" cy="640080"/>
          </a:xfrm>
          <a:prstGeom prst="ellipse">
            <a:avLst/>
          </a:prstGeom>
          <a:solidFill>
            <a:schemeClr val="accent1"/>
          </a:solidFill>
          <a:ln w="12700">
            <a:solidFill>
              <a:schemeClr val="accent1"/>
            </a:solidFill>
            <a:prstDash val="solid"/>
          </a:ln>
        </p:spPr>
      </p:sp>
      <p:pic>
        <p:nvPicPr>
          <p:cNvPr id="15" name="icon-FaPlayCircle" descr="preencoded.png"/>
          <p:cNvPicPr>
            <a:picLocks noChangeAspect="1"/>
          </p:cNvPicPr>
          <p:nvPr/>
        </p:nvPicPr>
        <p:blipFill>
          <a:blip r:embed="rId4"/>
          <a:stretch>
            <a:fillRect/>
          </a:stretch>
        </p:blipFill>
        <p:spPr>
          <a:xfrm>
            <a:off x="7103059" y="2073859"/>
            <a:ext cx="332842" cy="332842"/>
          </a:xfrm>
          <a:prstGeom prst="rect">
            <a:avLst/>
          </a:prstGeom>
        </p:spPr>
      </p:pic>
      <p:sp>
        <p:nvSpPr>
          <p:cNvPr id="16" name="Text 12"/>
          <p:cNvSpPr txBox="1"/>
          <p:nvPr/>
        </p:nvSpPr>
        <p:spPr>
          <a:xfrm>
            <a:off x="4526280" y="2743200"/>
            <a:ext cx="3063240" cy="45720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Run a 2-week pilot</a:t>
            </a:r>
            <a:endParaRPr lang="en-US" sz="1900" dirty="0"/>
          </a:p>
        </p:txBody>
      </p:sp>
      <p:sp>
        <p:nvSpPr>
          <p:cNvPr id="17" name="Text 13"/>
          <p:cNvSpPr txBox="1"/>
          <p:nvPr/>
        </p:nvSpPr>
        <p:spPr>
          <a:xfrm>
            <a:off x="4526280" y="3291840"/>
            <a:ext cx="3063240" cy="16459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Every client and partner contract goes through ACA before you read it. You mark each top flag useful, dismissed or wrong, and the Pilot metrics tab shows the results to everyone.</a:t>
            </a:r>
            <a:endParaRPr lang="en-US" sz="1600" dirty="0"/>
          </a:p>
        </p:txBody>
      </p:sp>
      <p:sp>
        <p:nvSpPr>
          <p:cNvPr id="18" name="ask-2"/>
          <p:cNvSpPr/>
          <p:nvPr/>
        </p:nvSpPr>
        <p:spPr>
          <a:xfrm>
            <a:off x="8046720" y="1737360"/>
            <a:ext cx="3520440" cy="3291840"/>
          </a:xfrm>
          <a:prstGeom prst="roundRect">
            <a:avLst>
              <a:gd name="adj" fmla="val 2222"/>
            </a:avLst>
          </a:prstGeom>
          <a:solidFill>
            <a:schemeClr val="bg2"/>
          </a:solidFill>
          <a:ln w="12700">
            <a:solidFill>
              <a:schemeClr val="bg2"/>
            </a:solidFill>
            <a:prstDash val="solid"/>
          </a:ln>
        </p:spPr>
      </p:sp>
      <p:sp>
        <p:nvSpPr>
          <p:cNvPr id="19" name="num-3"/>
          <p:cNvSpPr/>
          <p:nvPr/>
        </p:nvSpPr>
        <p:spPr>
          <a:xfrm>
            <a:off x="8275320" y="1965960"/>
            <a:ext cx="502920" cy="502920"/>
          </a:xfrm>
          <a:prstGeom prst="ellipse">
            <a:avLst/>
          </a:prstGeom>
          <a:solidFill>
            <a:schemeClr val="accent2"/>
          </a:solidFill>
          <a:ln w="12700">
            <a:solidFill>
              <a:schemeClr val="accent2"/>
            </a:solidFill>
            <a:prstDash val="solid"/>
          </a:ln>
        </p:spPr>
      </p:sp>
      <p:sp>
        <p:nvSpPr>
          <p:cNvPr id="20" name="Text 16"/>
          <p:cNvSpPr txBox="1"/>
          <p:nvPr/>
        </p:nvSpPr>
        <p:spPr>
          <a:xfrm>
            <a:off x="8275320" y="1965960"/>
            <a:ext cx="502920" cy="502920"/>
          </a:xfrm>
          <a:prstGeom prst="rect">
            <a:avLst/>
          </a:prstGeom>
          <a:noFill/>
          <a:ln/>
        </p:spPr>
        <p:txBody>
          <a:bodyPr wrap="square" lIns="0" tIns="0" rIns="0" bIns="0" rtlCol="0" anchor="ctr"/>
          <a:lstStyle/>
          <a:p>
            <a:pPr marL="0" indent="0" algn="ctr">
              <a:buNone/>
            </a:pPr>
            <a:r>
              <a:rPr lang="en-US" sz="1500" b="1" dirty="0">
                <a:solidFill>
                  <a:schemeClr val="tx2"/>
                </a:solidFill>
              </a:rPr>
              <a:t>3</a:t>
            </a:r>
            <a:endParaRPr lang="en-US" sz="1500" dirty="0"/>
          </a:p>
        </p:txBody>
      </p:sp>
      <p:sp>
        <p:nvSpPr>
          <p:cNvPr id="21" name="icon-circle"/>
          <p:cNvSpPr/>
          <p:nvPr/>
        </p:nvSpPr>
        <p:spPr>
          <a:xfrm>
            <a:off x="10698480" y="1920240"/>
            <a:ext cx="640080" cy="640080"/>
          </a:xfrm>
          <a:prstGeom prst="ellipse">
            <a:avLst/>
          </a:prstGeom>
          <a:solidFill>
            <a:schemeClr val="accent3"/>
          </a:solidFill>
          <a:ln w="12700">
            <a:solidFill>
              <a:schemeClr val="accent3"/>
            </a:solidFill>
            <a:prstDash val="solid"/>
          </a:ln>
        </p:spPr>
      </p:sp>
      <p:pic>
        <p:nvPicPr>
          <p:cNvPr id="22" name="icon-FaFirstAid" descr="preencoded.png"/>
          <p:cNvPicPr>
            <a:picLocks noChangeAspect="1"/>
          </p:cNvPicPr>
          <p:nvPr/>
        </p:nvPicPr>
        <p:blipFill>
          <a:blip r:embed="rId5"/>
          <a:stretch>
            <a:fillRect/>
          </a:stretch>
        </p:blipFill>
        <p:spPr>
          <a:xfrm>
            <a:off x="10852099" y="2073859"/>
            <a:ext cx="332842" cy="332842"/>
          </a:xfrm>
          <a:prstGeom prst="rect">
            <a:avLst/>
          </a:prstGeom>
        </p:spPr>
      </p:pic>
      <p:sp>
        <p:nvSpPr>
          <p:cNvPr id="23" name="Text 18"/>
          <p:cNvSpPr txBox="1"/>
          <p:nvPr/>
        </p:nvSpPr>
        <p:spPr>
          <a:xfrm>
            <a:off x="8275320" y="2743200"/>
            <a:ext cx="3063240" cy="457200"/>
          </a:xfrm>
          <a:prstGeom prst="rect">
            <a:avLst/>
          </a:prstGeom>
          <a:noFill/>
          <a:ln/>
        </p:spPr>
        <p:txBody>
          <a:bodyPr wrap="square" lIns="0" tIns="0" rIns="0" bIns="0" rtlCol="0" anchor="t"/>
          <a:lstStyle/>
          <a:p>
            <a:pPr marL="0" indent="0">
              <a:buNone/>
            </a:pPr>
            <a:r>
              <a:rPr lang="en-US" sz="1900" b="1" dirty="0">
                <a:solidFill>
                  <a:schemeClr val="tx2"/>
                </a:solidFill>
                <a:latin typeface="Calibri" pitchFamily="34" charset="0"/>
                <a:ea typeface="Calibri" pitchFamily="34" charset="-122"/>
                <a:cs typeface="Calibri" pitchFamily="34" charset="-120"/>
              </a:rPr>
              <a:t>Act on today's findings</a:t>
            </a:r>
            <a:endParaRPr lang="en-US" sz="1900" dirty="0"/>
          </a:p>
        </p:txBody>
      </p:sp>
      <p:sp>
        <p:nvSpPr>
          <p:cNvPr id="24" name="Text 19"/>
          <p:cNvSpPr txBox="1"/>
          <p:nvPr/>
        </p:nvSpPr>
        <p:spPr>
          <a:xfrm>
            <a:off x="8275320" y="3291840"/>
            <a:ext cx="3063240" cy="164592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Harrington: US counsel before any signature. </a:t>
            </a:r>
          </a:p>
          <a:p>
            <a:pPr marL="0" indent="0">
              <a:buNone/>
            </a:pPr>
            <a:endParaRPr lang="en-US" sz="1600" dirty="0">
              <a:latin typeface="Calibri" pitchFamily="34" charset="0"/>
              <a:ea typeface="Calibri" pitchFamily="34" charset="-122"/>
              <a:cs typeface="Calibri" pitchFamily="34" charset="-120"/>
            </a:endParaRPr>
          </a:p>
          <a:p>
            <a:pPr marL="0" indent="0">
              <a:buNone/>
            </a:pPr>
            <a:r>
              <a:rPr lang="en-US" sz="1600" dirty="0">
                <a:solidFill>
                  <a:schemeClr val="tx1"/>
                </a:solidFill>
                <a:latin typeface="Calibri" pitchFamily="34" charset="0"/>
                <a:ea typeface="Calibri" pitchFamily="34" charset="-122"/>
                <a:cs typeface="Calibri" pitchFamily="34" charset="-120"/>
              </a:rPr>
              <a:t>Gulf Crown, BlueOrchid, TravelHub: no signature without Al Noor's consent.</a:t>
            </a:r>
            <a:endParaRPr lang="en-US" sz="1600" dirty="0"/>
          </a:p>
        </p:txBody>
      </p:sp>
      <p:sp>
        <p:nvSpPr>
          <p:cNvPr id="25" name="Text 20"/>
          <p:cNvSpPr txBox="1"/>
          <p:nvPr/>
        </p:nvSpPr>
        <p:spPr>
          <a:xfrm>
            <a:off x="548640" y="5349240"/>
            <a:ext cx="11064240" cy="548640"/>
          </a:xfrm>
          <a:prstGeom prst="rect">
            <a:avLst/>
          </a:prstGeom>
          <a:noFill/>
          <a:ln/>
        </p:spPr>
        <p:txBody>
          <a:bodyPr wrap="square" lIns="0" tIns="0" rIns="0" bIns="0" rtlCol="0" anchor="t"/>
          <a:lstStyle/>
          <a:p>
            <a:pPr marL="0" indent="0">
              <a:buNone/>
            </a:pPr>
            <a:r>
              <a:rPr lang="en-US" sz="1600" i="1" dirty="0">
                <a:solidFill>
                  <a:schemeClr val="tx2"/>
                </a:solidFill>
                <a:latin typeface="Calibri" pitchFamily="34" charset="0"/>
                <a:ea typeface="Calibri" pitchFamily="34" charset="-122"/>
                <a:cs typeface="Calibri" pitchFamily="34" charset="-120"/>
              </a:rPr>
              <a:t>After the pilot we bring you the numbers: your hours per contract, decision time and flag usefulness. Then go or no-go.</a:t>
            </a:r>
            <a:endParaRPr lang="en-US" sz="1600" dirty="0"/>
          </a:p>
        </p:txBody>
      </p:sp>
      <p:sp>
        <p:nvSpPr>
          <p:cNvPr id="26"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417320"/>
            <a:ext cx="10058400" cy="457200"/>
          </a:xfrm>
          <a:prstGeom prst="rect">
            <a:avLst/>
          </a:prstGeom>
          <a:noFill/>
          <a:ln/>
        </p:spPr>
        <p:txBody>
          <a:bodyPr wrap="square" rtlCol="0"/>
          <a:lstStyle/>
          <a:p>
            <a:pPr marL="0" indent="0">
              <a:buNone/>
            </a:pPr>
            <a:r>
              <a:rPr lang="en-US" sz="1600" b="1" dirty="0">
                <a:solidFill>
                  <a:schemeClr val="accent2"/>
                </a:solidFill>
                <a:latin typeface="Calibri" pitchFamily="34" charset="0"/>
                <a:ea typeface="Calibri" pitchFamily="34" charset="-122"/>
                <a:cs typeface="Calibri" pitchFamily="34" charset="-120"/>
              </a:rPr>
              <a:t>THANK YOU</a:t>
            </a:r>
            <a:endParaRPr lang="en-US" sz="1600" dirty="0"/>
          </a:p>
        </p:txBody>
      </p:sp>
      <p:sp>
        <p:nvSpPr>
          <p:cNvPr id="3" name="Text 0"/>
          <p:cNvSpPr>
            <a:spLocks noGrp="1"/>
          </p:cNvSpPr>
          <p:nvPr>
            <p:ph type="title" idx="101" hasCustomPrompt="1"/>
          </p:nvPr>
        </p:nvSpPr>
        <p:spPr>
          <a:xfrm>
            <a:off x="731520" y="1920240"/>
            <a:ext cx="10698480" cy="1737360"/>
          </a:xfrm>
          <a:prstGeom prst="rect">
            <a:avLst/>
          </a:prstGeom>
          <a:noFill/>
          <a:ln/>
        </p:spPr>
        <p:txBody>
          <a:bodyPr wrap="square" rtlCol="0" anchor="t"/>
          <a:lstStyle/>
          <a:p>
            <a:pPr marL="0" indent="0" algn="l">
              <a:buNone/>
            </a:pPr>
            <a:r>
              <a:rPr lang="en-US" sz="4400" b="1" dirty="0">
                <a:solidFill>
                  <a:schemeClr val="bg1"/>
                </a:solidFill>
                <a:latin typeface="Cambria" pitchFamily="34" charset="0"/>
                <a:ea typeface="Cambria" pitchFamily="34" charset="-122"/>
                <a:cs typeface="Cambria" pitchFamily="34" charset="-120"/>
              </a:rPr>
              <a:t>You still sign every contract. ACA makes sure you know what you're signing.</a:t>
            </a:r>
            <a:endParaRPr lang="en-US" sz="4400" dirty="0"/>
          </a:p>
        </p:txBody>
      </p:sp>
      <p:sp>
        <p:nvSpPr>
          <p:cNvPr id="4" name="Text 0"/>
          <p:cNvSpPr>
            <a:spLocks noGrp="1"/>
          </p:cNvSpPr>
          <p:nvPr>
            <p:ph type="body" idx="102" hasCustomPrompt="1"/>
          </p:nvPr>
        </p:nvSpPr>
        <p:spPr>
          <a:xfrm>
            <a:off x="731520" y="3794760"/>
            <a:ext cx="10241280" cy="1463040"/>
          </a:xfrm>
          <a:prstGeom prst="rect">
            <a:avLst/>
          </a:prstGeom>
          <a:noFill/>
          <a:ln/>
        </p:spPr>
        <p:txBody>
          <a:bodyPr wrap="square" rtlCol="0" anchor="t"/>
          <a:lstStyle/>
          <a:p>
            <a:pPr marL="0" indent="0">
              <a:buNone/>
            </a:pPr>
            <a:r>
              <a:rPr lang="en-US" sz="2000" dirty="0">
                <a:solidFill>
                  <a:schemeClr val="accent6"/>
                </a:solidFill>
                <a:latin typeface="Calibri" pitchFamily="34" charset="0"/>
                <a:ea typeface="Calibri" pitchFamily="34" charset="-122"/>
                <a:cs typeface="Calibri" pitchFamily="34" charset="-120"/>
              </a:rPr>
              <a:t>Live prototype: ai-pm-capstone-project-for-contract.vercel.app</a:t>
            </a:r>
            <a:endParaRPr lang="en-US" sz="2000" dirty="0"/>
          </a:p>
          <a:p>
            <a:pPr marL="0" indent="0">
              <a:buNone/>
            </a:pPr>
            <a:r>
              <a:rPr lang="en-US" sz="1600" dirty="0">
                <a:solidFill>
                  <a:schemeClr val="accent6"/>
                </a:solidFill>
                <a:latin typeface="Calibri" pitchFamily="34" charset="0"/>
                <a:ea typeface="Calibri" pitchFamily="34" charset="-122"/>
                <a:cs typeface="Calibri" pitchFamily="34" charset="-120"/>
              </a:rPr>
              <a:t>Code: github.com/vvsoni2020/AI-PM-Capstone-Project-for-Contract-Analyzer</a:t>
            </a:r>
            <a:endParaRPr lang="en-US" sz="2000" dirty="0"/>
          </a:p>
        </p:txBody>
      </p:sp>
      <p:sp>
        <p:nvSpPr>
          <p:cNvPr id="5" name="icon-circle"/>
          <p:cNvSpPr/>
          <p:nvPr/>
        </p:nvSpPr>
        <p:spPr>
          <a:xfrm>
            <a:off x="10378440" y="5074920"/>
            <a:ext cx="1051560" cy="1051560"/>
          </a:xfrm>
          <a:prstGeom prst="ellipse">
            <a:avLst/>
          </a:prstGeom>
          <a:solidFill>
            <a:schemeClr val="accent2"/>
          </a:solidFill>
          <a:ln w="12700">
            <a:solidFill>
              <a:schemeClr val="accent2"/>
            </a:solidFill>
            <a:prstDash val="solid"/>
          </a:ln>
        </p:spPr>
      </p:sp>
      <p:pic>
        <p:nvPicPr>
          <p:cNvPr id="6" name="icon-FaShieldAlt" descr="preencoded.png"/>
          <p:cNvPicPr>
            <a:picLocks noChangeAspect="1"/>
          </p:cNvPicPr>
          <p:nvPr/>
        </p:nvPicPr>
        <p:blipFill>
          <a:blip r:embed="rId3"/>
          <a:stretch>
            <a:fillRect/>
          </a:stretch>
        </p:blipFill>
        <p:spPr>
          <a:xfrm>
            <a:off x="10630814" y="5327294"/>
            <a:ext cx="546811" cy="54681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92608"/>
            <a:ext cx="8229600" cy="329184"/>
          </a:xfrm>
          <a:prstGeom prst="rect">
            <a:avLst/>
          </a:prstGeom>
          <a:noFill/>
          <a:ln/>
        </p:spPr>
        <p:txBody>
          <a:bodyPr wrap="square" lIns="0" tIns="0" rIns="0" bIns="0" rtlCol="0"/>
          <a:lstStyle/>
          <a:p>
            <a:pPr marL="0" indent="0">
              <a:buNone/>
            </a:pPr>
            <a:r>
              <a:rPr lang="en-US" sz="1200" b="1" dirty="0">
                <a:solidFill>
                  <a:schemeClr val="accent1"/>
                </a:solidFill>
                <a:latin typeface="Calibri" pitchFamily="34" charset="0"/>
                <a:ea typeface="Calibri" pitchFamily="34" charset="-122"/>
                <a:cs typeface="Calibri" pitchFamily="34" charset="-120"/>
              </a:rPr>
              <a:t>BACKGROUND · GLOSSARY</a:t>
            </a:r>
            <a:endParaRPr lang="en-US" sz="1200" dirty="0"/>
          </a:p>
        </p:txBody>
      </p:sp>
      <p:sp>
        <p:nvSpPr>
          <p:cNvPr id="3" name="Text 0"/>
          <p:cNvSpPr>
            <a:spLocks noGrp="1"/>
          </p:cNvSpPr>
          <p:nvPr>
            <p:ph type="title" idx="101" hasCustomPrompt="1"/>
          </p:nvPr>
        </p:nvSpPr>
        <p:spPr>
          <a:xfrm>
            <a:off x="548640" y="603504"/>
            <a:ext cx="11064240" cy="868680"/>
          </a:xfrm>
          <a:prstGeom prst="rect">
            <a:avLst/>
          </a:prstGeom>
          <a:noFill/>
          <a:ln/>
        </p:spPr>
        <p:txBody>
          <a:bodyPr wrap="square" lIns="0" tIns="0" rIns="0" bIns="0" rtlCol="0" anchor="t"/>
          <a:lstStyle/>
          <a:p>
            <a:pPr marL="0" indent="0" algn="l">
              <a:buNone/>
            </a:pPr>
            <a:r>
              <a:rPr lang="en-US" sz="3000" b="1" dirty="0">
                <a:solidFill>
                  <a:schemeClr val="tx2"/>
                </a:solidFill>
                <a:latin typeface="Cambria" pitchFamily="34" charset="0"/>
                <a:ea typeface="Cambria" pitchFamily="34" charset="-122"/>
                <a:cs typeface="Cambria" pitchFamily="34" charset="-120"/>
              </a:rPr>
              <a:t>Abbreviations used in this deck and in ACA</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440680" cy="4059936"/>
        </p:xfrm>
        <a:graphic>
          <a:graphicData uri="http://schemas.openxmlformats.org/drawingml/2006/table">
            <a:tbl>
              <a:tblPr/>
              <a:tblGrid>
                <a:gridCol w="9601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33832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Short form</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D3F6E"/>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Full form</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D3F6E"/>
                    </a:solidFill>
                  </a:tcPr>
                </a:tc>
                <a:extLst>
                  <a:ext uri="{0D108BD9-81ED-4DB2-BD59-A6C34878D82A}">
                    <a16:rowId xmlns:a16="http://schemas.microsoft.com/office/drawing/2014/main" val="10000"/>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ACA</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Auto Contract Analyzer (this prototype)</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AI</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Artificial Intelligence</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API</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Application Programming Interface</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KD</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Karandeep, AtliQ's CEO, who signs every contract</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PM</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Product Manager</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POC</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Point of Contact (owner of a deal)</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MSA</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Master Services Agreement</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SOW</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Statement of Work</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NDA</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Non-Disclosure Agreement</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BAA</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Business Associate Agreement (US healthcare)</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PHI</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Protected Health Information</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6172200" y="1600200"/>
          <a:ext cx="5440680" cy="4059936"/>
        </p:xfrm>
        <a:graphic>
          <a:graphicData uri="http://schemas.openxmlformats.org/drawingml/2006/table">
            <a:tbl>
              <a:tblPr/>
              <a:tblGrid>
                <a:gridCol w="9601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33832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Short form</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D3F6E"/>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Full form</a:t>
                      </a:r>
                      <a:endParaRPr lang="en-US" sz="13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D3F6E"/>
                    </a:solidFill>
                  </a:tcPr>
                </a:tc>
                <a:extLst>
                  <a:ext uri="{0D108BD9-81ED-4DB2-BD59-A6C34878D82A}">
                    <a16:rowId xmlns:a16="http://schemas.microsoft.com/office/drawing/2014/main" val="10000"/>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HIPAA</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Health Insurance Portability and Accountability Act (US)</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DPA</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Data Processing Agreement</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GDPR</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General Data Protection Regulation (EU, UK)</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LD</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Liquidated Damages: a fixed penalty for delay</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MFN</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Most-Favored-Nation: no other customer gets a better price</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GCC</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Gulf Cooperation Council: Saudi Arabia, UAE and 4 other Gulf states</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UAE</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United Arab Emirates</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IP</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Intellectual Property</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CIN</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Corporate Identification Number (India)</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SSN</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Social Security Number (US)</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38328">
                <a:tc>
                  <a:txBody>
                    <a:bodyPr/>
                    <a:lstStyle/>
                    <a:p>
                      <a:pPr marL="0" indent="0">
                        <a:buNone/>
                      </a:pPr>
                      <a:r>
                        <a:rPr lang="en-US" sz="1200" b="1" dirty="0">
                          <a:solidFill>
                            <a:srgbClr val="1D3F6E"/>
                          </a:solidFill>
                          <a:latin typeface="Calibri" pitchFamily="34" charset="0"/>
                          <a:ea typeface="Calibri" pitchFamily="34" charset="-122"/>
                          <a:cs typeface="Calibri" pitchFamily="34" charset="-120"/>
                        </a:rPr>
                        <a:t>OCR</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tc>
                  <a:txBody>
                    <a:bodyPr/>
                    <a:lstStyle/>
                    <a:p>
                      <a:pPr marL="0" indent="0">
                        <a:buNone/>
                      </a:pPr>
                      <a:r>
                        <a:rPr lang="en-US" sz="1200" dirty="0">
                          <a:solidFill>
                            <a:srgbClr val="1C2431"/>
                          </a:solidFill>
                          <a:latin typeface="Calibri" pitchFamily="34" charset="0"/>
                          <a:ea typeface="Calibri" pitchFamily="34" charset="-122"/>
                          <a:cs typeface="Calibri" pitchFamily="34" charset="-120"/>
                        </a:rPr>
                        <a:t>Optical Character Recognition: turning a scan into text</a:t>
                      </a:r>
                      <a:endParaRPr lang="en-US" sz="1200" dirty="0">
                        <a:latin typeface="Calibri" charset="0"/>
                        <a:ea typeface="Calibri" charset="0"/>
                        <a:cs typeface="Calibri" charset="0"/>
                      </a:endParaRPr>
                    </a:p>
                  </a:txBody>
                  <a:tcPr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6" name="Text 2"/>
          <p:cNvSpPr txBox="1"/>
          <p:nvPr/>
        </p:nvSpPr>
        <p:spPr>
          <a:xfrm>
            <a:off x="548640" y="5897880"/>
            <a:ext cx="11064240" cy="365760"/>
          </a:xfrm>
          <a:prstGeom prst="rect">
            <a:avLst/>
          </a:prstGeom>
          <a:noFill/>
          <a:ln/>
        </p:spPr>
        <p:txBody>
          <a:bodyPr wrap="square" lIns="0" tIns="0" rIns="0" bIns="0" rtlCol="0" anchor="t"/>
          <a:lstStyle/>
          <a:p>
            <a:pPr marL="0" indent="0">
              <a:buNone/>
            </a:pPr>
            <a:r>
              <a:rPr lang="en-US" sz="1300" i="1" dirty="0">
                <a:solidFill>
                  <a:schemeClr val="accent5"/>
                </a:solidFill>
                <a:latin typeface="Calibri" pitchFamily="34" charset="0"/>
                <a:ea typeface="Calibri" pitchFamily="34" charset="-122"/>
                <a:cs typeface="Calibri" pitchFamily="34" charset="-120"/>
              </a:rPr>
              <a:t>In the app, an abbreviation is underlined with a dotted line the first time it appears on each page: hover over it (or tap on a phone) to see the full form.</a:t>
            </a:r>
            <a:endParaRPr lang="en-US" sz="1300" dirty="0"/>
          </a:p>
        </p:txBody>
      </p:sp>
      <p:sp>
        <p:nvSpPr>
          <p:cNvPr id="25" name="Slide Number Placeholder 0"/>
          <p:cNvSpPr>
            <a:spLocks noGrp="1"/>
          </p:cNvSpPr>
          <p:nvPr>
            <p:ph type="sldNum" sz="quarter" idx="4294967295"/>
          </p:nvPr>
        </p:nvSpPr>
        <p:spPr>
          <a:xfrm>
            <a:off x="11247120" y="6446520"/>
            <a:ext cx="411480" cy="274320"/>
          </a:xfrm>
          <a:prstGeom prst="rect">
            <a:avLst/>
          </a:prstGeom>
          <a:extLst>
            <a:ext uri="{C572A759-6A51-4108-AA02-DFA0A04FC94B}">
              <ma14:wrappingTextBoxFlag xmlns:ma14="http://schemas.microsoft.com/office/mac/drawingml/2011/main" xmlns="" val="0"/>
            </a:ext>
          </a:extLst>
        </p:spPr>
        <p:txBody>
          <a:bodyPr/>
          <a:lstStyle>
            <a:lvl1pPr>
              <a:defRPr sz="900">
                <a:solidFill>
                  <a:schemeClr val="accent5"/>
                </a:solidFill>
              </a:defRPr>
            </a:lvl1pPr>
          </a:lstStyle>
          <a:p>
            <a:pPr algn="r"/>
            <a:fld id="{F7021451-1387-4CA6-816F-3879F97B5CBC}" type="slidenum">
              <a:rPr lang="en-US" b="0"/>
              <a:t>19</a:t>
            </a:fld>
            <a:endParaRPr lang="en-US"/>
          </a:p>
        </p:txBody>
      </p:sp>
    </p:spTree>
  </p:cSld>
  <p:clrMapOvr>
    <a:masterClrMapping/>
  </p:clrMapOvr>
</p:sld>
</file>

<file path=ppt/theme/theme1.xml><?xml version="1.0" encoding="utf-8"?>
<a:theme xmlns:a="http://schemas.openxmlformats.org/drawingml/2006/main" name="ACA Blue">
  <a:themeElements>
    <a:clrScheme name="ACA Blue">
      <a:dk1>
        <a:srgbClr val="1C2431"/>
      </a:dk1>
      <a:lt1>
        <a:srgbClr val="FFFFFF"/>
      </a:lt1>
      <a:dk2>
        <a:srgbClr val="1D3F6E"/>
      </a:dk2>
      <a:lt2>
        <a:srgbClr val="F2F5FA"/>
      </a:lt2>
      <a:accent1>
        <a:srgbClr val="2A64AD"/>
      </a:accent1>
      <a:accent2>
        <a:srgbClr val="F2B544"/>
      </a:accent2>
      <a:accent3>
        <a:srgbClr val="B42318"/>
      </a:accent3>
      <a:accent4>
        <a:srgbClr val="2B7A4B"/>
      </a:accent4>
      <a:accent5>
        <a:srgbClr val="6B7585"/>
      </a:accent5>
      <a:accent6>
        <a:srgbClr val="E8EEFB"/>
      </a:accent6>
      <a:hlink>
        <a:srgbClr val="2A64AD"/>
      </a:hlink>
      <a:folHlink>
        <a:srgbClr val="1D3F6E"/>
      </a:folHlink>
    </a:clrScheme>
    <a:fontScheme name="ACA Blu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TotalTime>
  <Words>3611</Words>
  <Application>Microsoft Office PowerPoint</Application>
  <PresentationFormat>Widescreen</PresentationFormat>
  <Paragraphs>340</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Courier New</vt:lpstr>
      <vt:lpstr>ACA Blue</vt:lpstr>
      <vt:lpstr>Know what you're signing – in Minutes, not Hours Loom Link: https://www.loom.com/share/04c06fc1a08043f5967d48c1e8d29fed</vt:lpstr>
      <vt:lpstr>ACA finds the real risks in under a minute – you decide</vt:lpstr>
      <vt:lpstr>You review every contract alone, late at night, from memory</vt:lpstr>
      <vt:lpstr>The misses are expensive – the next one is in the queue</vt:lpstr>
      <vt:lpstr>Most of the real risk is not in the contract on your desk</vt:lpstr>
      <vt:lpstr>AtliQ has no memory of what it has promised – only yours</vt:lpstr>
      <vt:lpstr>Focus on review, with hard lines around what AI may do</vt:lpstr>
      <vt:lpstr>How ACA turns a 4-hour read into a 1-minute brief</vt:lpstr>
      <vt:lpstr>Your morning view: every contract, most serious risk first</vt:lpstr>
      <vt:lpstr>Each risk shows the draft clause next to what it breaks</vt:lpstr>
      <vt:lpstr>AtliQ's promises in one place – and nothing sensitive leaks</vt:lpstr>
      <vt:lpstr>After signing: one history, invoices from the right entity</vt:lpstr>
      <vt:lpstr>We tried to break it with 25 contracts written to fool it</vt:lpstr>
      <vt:lpstr>One North Star: your review hours saved each month</vt:lpstr>
      <vt:lpstr>About $54 a month to run, about $700 a month back</vt:lpstr>
      <vt:lpstr>Every way ACA could fail has a guardrail – all tested</vt:lpstr>
      <vt:lpstr>Three decisions to start the pilot this week</vt:lpstr>
      <vt:lpstr>You still sign every contract. ACA makes sure you know what you're signing.</vt:lpstr>
      <vt:lpstr>Abbreviations used in this deck and in ACA</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 Contract Analyzer (ACA) – proposal to Karandeep</dc:title>
  <dc:subject>PptxGenJS Presentation</dc:subject>
  <dc:creator>Vaibhav Soni</dc:creator>
  <cp:lastModifiedBy>vaibhav soni</cp:lastModifiedBy>
  <cp:revision>10</cp:revision>
  <dcterms:created xsi:type="dcterms:W3CDTF">2026-10-11T06:39:55Z</dcterms:created>
  <dcterms:modified xsi:type="dcterms:W3CDTF">2026-10-11T08:07:36Z</dcterms:modified>
</cp:coreProperties>
</file>